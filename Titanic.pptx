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1" r:id="rId3"/>
    <p:sldId id="257" r:id="rId4"/>
    <p:sldId id="260" r:id="rId5"/>
    <p:sldId id="259" r:id="rId6"/>
    <p:sldId id="262" r:id="rId7"/>
    <p:sldId id="263" r:id="rId8"/>
    <p:sldId id="264" r:id="rId9"/>
    <p:sldId id="265" r:id="rId10"/>
    <p:sldId id="266" r:id="rId11"/>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78"/>
  </p:normalViewPr>
  <p:slideViewPr>
    <p:cSldViewPr snapToGrid="0">
      <p:cViewPr varScale="1">
        <p:scale>
          <a:sx n="109" d="100"/>
          <a:sy n="109" d="100"/>
        </p:scale>
        <p:origin x="68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025E0B-5517-684C-ACCC-8F8E6EC134B4}"/>
              </a:ext>
            </a:extLst>
          </p:cNvPr>
          <p:cNvSpPr>
            <a:spLocks noGrp="1"/>
          </p:cNvSpPr>
          <p:nvPr>
            <p:ph type="ctrTitle"/>
          </p:nvPr>
        </p:nvSpPr>
        <p:spPr>
          <a:xfrm>
            <a:off x="1524000" y="1122363"/>
            <a:ext cx="9144000" cy="2387600"/>
          </a:xfrm>
        </p:spPr>
        <p:txBody>
          <a:bodyPr anchor="b"/>
          <a:lstStyle>
            <a:lvl1pPr algn="ctr">
              <a:defRPr sz="6000"/>
            </a:lvl1pPr>
          </a:lstStyle>
          <a:p>
            <a:r>
              <a:rPr lang="es-MX"/>
              <a:t>Haz clic para modificar el estilo de título del patrón</a:t>
            </a:r>
          </a:p>
        </p:txBody>
      </p:sp>
      <p:sp>
        <p:nvSpPr>
          <p:cNvPr id="3" name="Subtítulo 2">
            <a:extLst>
              <a:ext uri="{FF2B5EF4-FFF2-40B4-BE49-F238E27FC236}">
                <a16:creationId xmlns:a16="http://schemas.microsoft.com/office/drawing/2014/main" id="{946DA70D-00D0-AEED-0692-6311DC91560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p>
        </p:txBody>
      </p:sp>
      <p:sp>
        <p:nvSpPr>
          <p:cNvPr id="4" name="Marcador de fecha 3">
            <a:extLst>
              <a:ext uri="{FF2B5EF4-FFF2-40B4-BE49-F238E27FC236}">
                <a16:creationId xmlns:a16="http://schemas.microsoft.com/office/drawing/2014/main" id="{A2A39394-B4BE-0C28-0B1E-638EA098A832}"/>
              </a:ext>
            </a:extLst>
          </p:cNvPr>
          <p:cNvSpPr>
            <a:spLocks noGrp="1"/>
          </p:cNvSpPr>
          <p:nvPr>
            <p:ph type="dt" sz="half" idx="10"/>
          </p:nvPr>
        </p:nvSpPr>
        <p:spPr/>
        <p:txBody>
          <a:bodyPr/>
          <a:lstStyle/>
          <a:p>
            <a:fld id="{C3174835-0754-2243-9205-74540C7AEDDA}" type="datetimeFigureOut">
              <a:rPr lang="es-MX" smtClean="0"/>
              <a:t>07/04/25</a:t>
            </a:fld>
            <a:endParaRPr lang="es-MX"/>
          </a:p>
        </p:txBody>
      </p:sp>
      <p:sp>
        <p:nvSpPr>
          <p:cNvPr id="5" name="Marcador de pie de página 4">
            <a:extLst>
              <a:ext uri="{FF2B5EF4-FFF2-40B4-BE49-F238E27FC236}">
                <a16:creationId xmlns:a16="http://schemas.microsoft.com/office/drawing/2014/main" id="{BCEFF6B4-A145-255B-50DD-A4AC4893E01A}"/>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C44B57AF-2251-4D49-BB0C-1222E380E868}"/>
              </a:ext>
            </a:extLst>
          </p:cNvPr>
          <p:cNvSpPr>
            <a:spLocks noGrp="1"/>
          </p:cNvSpPr>
          <p:nvPr>
            <p:ph type="sldNum" sz="quarter" idx="12"/>
          </p:nvPr>
        </p:nvSpPr>
        <p:spPr/>
        <p:txBody>
          <a:bodyPr/>
          <a:lstStyle/>
          <a:p>
            <a:fld id="{FEA816A4-209A-E743-A4E9-90560371CA8D}" type="slidenum">
              <a:rPr lang="es-MX" smtClean="0"/>
              <a:t>‹Nº›</a:t>
            </a:fld>
            <a:endParaRPr lang="es-MX"/>
          </a:p>
        </p:txBody>
      </p:sp>
    </p:spTree>
    <p:extLst>
      <p:ext uri="{BB962C8B-B14F-4D97-AF65-F5344CB8AC3E}">
        <p14:creationId xmlns:p14="http://schemas.microsoft.com/office/powerpoint/2010/main" val="27620434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F5EB084-36B9-489D-F26B-CA7CA0FD2F8C}"/>
              </a:ext>
            </a:extLst>
          </p:cNvPr>
          <p:cNvSpPr>
            <a:spLocks noGrp="1"/>
          </p:cNvSpPr>
          <p:nvPr>
            <p:ph type="title"/>
          </p:nvPr>
        </p:nvSpPr>
        <p:spPr/>
        <p:txBody>
          <a:bodyPr/>
          <a:lstStyle/>
          <a:p>
            <a:r>
              <a:rPr lang="es-MX"/>
              <a:t>Haz clic para modificar el estilo de título del patrón</a:t>
            </a:r>
          </a:p>
        </p:txBody>
      </p:sp>
      <p:sp>
        <p:nvSpPr>
          <p:cNvPr id="3" name="Marcador de contenido 2">
            <a:extLst>
              <a:ext uri="{FF2B5EF4-FFF2-40B4-BE49-F238E27FC236}">
                <a16:creationId xmlns:a16="http://schemas.microsoft.com/office/drawing/2014/main" id="{A6D3BC8D-7D9C-D71F-F7CA-7F6ED5E950F6}"/>
              </a:ext>
            </a:extLst>
          </p:cNvPr>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030B22B2-3DFD-7855-BEA2-7FF483A599DA}"/>
              </a:ext>
            </a:extLst>
          </p:cNvPr>
          <p:cNvSpPr>
            <a:spLocks noGrp="1"/>
          </p:cNvSpPr>
          <p:nvPr>
            <p:ph type="dt" sz="half" idx="10"/>
          </p:nvPr>
        </p:nvSpPr>
        <p:spPr/>
        <p:txBody>
          <a:bodyPr/>
          <a:lstStyle/>
          <a:p>
            <a:fld id="{C3174835-0754-2243-9205-74540C7AEDDA}" type="datetimeFigureOut">
              <a:rPr lang="es-MX" smtClean="0"/>
              <a:t>07/04/25</a:t>
            </a:fld>
            <a:endParaRPr lang="es-MX"/>
          </a:p>
        </p:txBody>
      </p:sp>
      <p:sp>
        <p:nvSpPr>
          <p:cNvPr id="5" name="Marcador de pie de página 4">
            <a:extLst>
              <a:ext uri="{FF2B5EF4-FFF2-40B4-BE49-F238E27FC236}">
                <a16:creationId xmlns:a16="http://schemas.microsoft.com/office/drawing/2014/main" id="{3AB75AC4-34AC-B75A-1A9F-1E2FF6FBD668}"/>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E95EBC46-162F-F4B4-235D-3813D6A4AE02}"/>
              </a:ext>
            </a:extLst>
          </p:cNvPr>
          <p:cNvSpPr>
            <a:spLocks noGrp="1"/>
          </p:cNvSpPr>
          <p:nvPr>
            <p:ph type="sldNum" sz="quarter" idx="12"/>
          </p:nvPr>
        </p:nvSpPr>
        <p:spPr/>
        <p:txBody>
          <a:bodyPr/>
          <a:lstStyle/>
          <a:p>
            <a:fld id="{FEA816A4-209A-E743-A4E9-90560371CA8D}" type="slidenum">
              <a:rPr lang="es-MX" smtClean="0"/>
              <a:t>‹Nº›</a:t>
            </a:fld>
            <a:endParaRPr lang="es-MX"/>
          </a:p>
        </p:txBody>
      </p:sp>
    </p:spTree>
    <p:extLst>
      <p:ext uri="{BB962C8B-B14F-4D97-AF65-F5344CB8AC3E}">
        <p14:creationId xmlns:p14="http://schemas.microsoft.com/office/powerpoint/2010/main" val="20509666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D611C5-CEFB-8188-15AE-F133E3A10C1B}"/>
              </a:ext>
            </a:extLst>
          </p:cNvPr>
          <p:cNvSpPr>
            <a:spLocks noGrp="1"/>
          </p:cNvSpPr>
          <p:nvPr>
            <p:ph type="title"/>
          </p:nvPr>
        </p:nvSpPr>
        <p:spPr>
          <a:xfrm>
            <a:off x="831850" y="1709738"/>
            <a:ext cx="10515600" cy="2852737"/>
          </a:xfrm>
        </p:spPr>
        <p:txBody>
          <a:bodyPr anchor="b"/>
          <a:lstStyle>
            <a:lvl1pPr>
              <a:defRPr sz="6000"/>
            </a:lvl1pPr>
          </a:lstStyle>
          <a:p>
            <a:r>
              <a:rPr lang="es-MX"/>
              <a:t>Haz clic para modificar el estilo de título del patrón</a:t>
            </a:r>
          </a:p>
        </p:txBody>
      </p:sp>
      <p:sp>
        <p:nvSpPr>
          <p:cNvPr id="3" name="Marcador de texto 2">
            <a:extLst>
              <a:ext uri="{FF2B5EF4-FFF2-40B4-BE49-F238E27FC236}">
                <a16:creationId xmlns:a16="http://schemas.microsoft.com/office/drawing/2014/main" id="{FA752C0B-9C48-D9E3-E832-6E635A691E6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MX"/>
              <a:t>Haga clic para modificar los estilos de texto del patrón</a:t>
            </a:r>
          </a:p>
        </p:txBody>
      </p:sp>
      <p:sp>
        <p:nvSpPr>
          <p:cNvPr id="4" name="Marcador de fecha 3">
            <a:extLst>
              <a:ext uri="{FF2B5EF4-FFF2-40B4-BE49-F238E27FC236}">
                <a16:creationId xmlns:a16="http://schemas.microsoft.com/office/drawing/2014/main" id="{6089106C-5501-0062-4298-FCEDCEF581A1}"/>
              </a:ext>
            </a:extLst>
          </p:cNvPr>
          <p:cNvSpPr>
            <a:spLocks noGrp="1"/>
          </p:cNvSpPr>
          <p:nvPr>
            <p:ph type="dt" sz="half" idx="10"/>
          </p:nvPr>
        </p:nvSpPr>
        <p:spPr/>
        <p:txBody>
          <a:bodyPr/>
          <a:lstStyle/>
          <a:p>
            <a:fld id="{C3174835-0754-2243-9205-74540C7AEDDA}" type="datetimeFigureOut">
              <a:rPr lang="es-MX" smtClean="0"/>
              <a:t>07/04/25</a:t>
            </a:fld>
            <a:endParaRPr lang="es-MX"/>
          </a:p>
        </p:txBody>
      </p:sp>
      <p:sp>
        <p:nvSpPr>
          <p:cNvPr id="5" name="Marcador de pie de página 4">
            <a:extLst>
              <a:ext uri="{FF2B5EF4-FFF2-40B4-BE49-F238E27FC236}">
                <a16:creationId xmlns:a16="http://schemas.microsoft.com/office/drawing/2014/main" id="{8C054487-BB01-5D1B-DD10-BF38A429B7D9}"/>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AD3AD0F7-D270-4770-FB66-72D4C691561C}"/>
              </a:ext>
            </a:extLst>
          </p:cNvPr>
          <p:cNvSpPr>
            <a:spLocks noGrp="1"/>
          </p:cNvSpPr>
          <p:nvPr>
            <p:ph type="sldNum" sz="quarter" idx="12"/>
          </p:nvPr>
        </p:nvSpPr>
        <p:spPr/>
        <p:txBody>
          <a:bodyPr/>
          <a:lstStyle/>
          <a:p>
            <a:fld id="{FEA816A4-209A-E743-A4E9-90560371CA8D}" type="slidenum">
              <a:rPr lang="es-MX" smtClean="0"/>
              <a:t>‹Nº›</a:t>
            </a:fld>
            <a:endParaRPr lang="es-MX"/>
          </a:p>
        </p:txBody>
      </p:sp>
    </p:spTree>
    <p:extLst>
      <p:ext uri="{BB962C8B-B14F-4D97-AF65-F5344CB8AC3E}">
        <p14:creationId xmlns:p14="http://schemas.microsoft.com/office/powerpoint/2010/main" val="39431633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226D63-E36F-F9A7-92C4-5934FD5A01A3}"/>
              </a:ext>
            </a:extLst>
          </p:cNvPr>
          <p:cNvSpPr>
            <a:spLocks noGrp="1"/>
          </p:cNvSpPr>
          <p:nvPr>
            <p:ph type="title"/>
          </p:nvPr>
        </p:nvSpPr>
        <p:spPr/>
        <p:txBody>
          <a:bodyPr/>
          <a:lstStyle/>
          <a:p>
            <a:r>
              <a:rPr lang="es-MX"/>
              <a:t>Haz clic para modificar el estilo de título del patrón</a:t>
            </a:r>
          </a:p>
        </p:txBody>
      </p:sp>
      <p:sp>
        <p:nvSpPr>
          <p:cNvPr id="3" name="Marcador de contenido 2">
            <a:extLst>
              <a:ext uri="{FF2B5EF4-FFF2-40B4-BE49-F238E27FC236}">
                <a16:creationId xmlns:a16="http://schemas.microsoft.com/office/drawing/2014/main" id="{C9B52126-583D-0680-106C-05F649FB331B}"/>
              </a:ext>
            </a:extLst>
          </p:cNvPr>
          <p:cNvSpPr>
            <a:spLocks noGrp="1"/>
          </p:cNvSpPr>
          <p:nvPr>
            <p:ph sz="half" idx="1"/>
          </p:nvPr>
        </p:nvSpPr>
        <p:spPr>
          <a:xfrm>
            <a:off x="838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contenido 3">
            <a:extLst>
              <a:ext uri="{FF2B5EF4-FFF2-40B4-BE49-F238E27FC236}">
                <a16:creationId xmlns:a16="http://schemas.microsoft.com/office/drawing/2014/main" id="{F921DCD2-EB14-04F7-4BA9-369EF7CF15A9}"/>
              </a:ext>
            </a:extLst>
          </p:cNvPr>
          <p:cNvSpPr>
            <a:spLocks noGrp="1"/>
          </p:cNvSpPr>
          <p:nvPr>
            <p:ph sz="half" idx="2"/>
          </p:nvPr>
        </p:nvSpPr>
        <p:spPr>
          <a:xfrm>
            <a:off x="6172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5" name="Marcador de fecha 4">
            <a:extLst>
              <a:ext uri="{FF2B5EF4-FFF2-40B4-BE49-F238E27FC236}">
                <a16:creationId xmlns:a16="http://schemas.microsoft.com/office/drawing/2014/main" id="{FD7F4207-0274-D997-E8EB-053F6CF7FD12}"/>
              </a:ext>
            </a:extLst>
          </p:cNvPr>
          <p:cNvSpPr>
            <a:spLocks noGrp="1"/>
          </p:cNvSpPr>
          <p:nvPr>
            <p:ph type="dt" sz="half" idx="10"/>
          </p:nvPr>
        </p:nvSpPr>
        <p:spPr/>
        <p:txBody>
          <a:bodyPr/>
          <a:lstStyle/>
          <a:p>
            <a:fld id="{C3174835-0754-2243-9205-74540C7AEDDA}" type="datetimeFigureOut">
              <a:rPr lang="es-MX" smtClean="0"/>
              <a:t>07/04/25</a:t>
            </a:fld>
            <a:endParaRPr lang="es-MX"/>
          </a:p>
        </p:txBody>
      </p:sp>
      <p:sp>
        <p:nvSpPr>
          <p:cNvPr id="6" name="Marcador de pie de página 5">
            <a:extLst>
              <a:ext uri="{FF2B5EF4-FFF2-40B4-BE49-F238E27FC236}">
                <a16:creationId xmlns:a16="http://schemas.microsoft.com/office/drawing/2014/main" id="{479E5862-FD21-BE7A-CBEC-FB022752DC87}"/>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70EE5AA0-9F8F-0C6D-F87F-57A5549850F3}"/>
              </a:ext>
            </a:extLst>
          </p:cNvPr>
          <p:cNvSpPr>
            <a:spLocks noGrp="1"/>
          </p:cNvSpPr>
          <p:nvPr>
            <p:ph type="sldNum" sz="quarter" idx="12"/>
          </p:nvPr>
        </p:nvSpPr>
        <p:spPr/>
        <p:txBody>
          <a:bodyPr/>
          <a:lstStyle/>
          <a:p>
            <a:fld id="{FEA816A4-209A-E743-A4E9-90560371CA8D}" type="slidenum">
              <a:rPr lang="es-MX" smtClean="0"/>
              <a:t>‹Nº›</a:t>
            </a:fld>
            <a:endParaRPr lang="es-MX"/>
          </a:p>
        </p:txBody>
      </p:sp>
    </p:spTree>
    <p:extLst>
      <p:ext uri="{BB962C8B-B14F-4D97-AF65-F5344CB8AC3E}">
        <p14:creationId xmlns:p14="http://schemas.microsoft.com/office/powerpoint/2010/main" val="29184670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F47B875-5244-465C-F10A-2A037688E3E3}"/>
              </a:ext>
            </a:extLst>
          </p:cNvPr>
          <p:cNvSpPr>
            <a:spLocks noGrp="1"/>
          </p:cNvSpPr>
          <p:nvPr>
            <p:ph type="title"/>
          </p:nvPr>
        </p:nvSpPr>
        <p:spPr>
          <a:xfrm>
            <a:off x="839788" y="365125"/>
            <a:ext cx="10515600" cy="1325563"/>
          </a:xfrm>
        </p:spPr>
        <p:txBody>
          <a:bodyPr/>
          <a:lstStyle/>
          <a:p>
            <a:r>
              <a:rPr lang="es-MX"/>
              <a:t>Haz clic para modificar el estilo de título del patrón</a:t>
            </a:r>
          </a:p>
        </p:txBody>
      </p:sp>
      <p:sp>
        <p:nvSpPr>
          <p:cNvPr id="3" name="Marcador de texto 2">
            <a:extLst>
              <a:ext uri="{FF2B5EF4-FFF2-40B4-BE49-F238E27FC236}">
                <a16:creationId xmlns:a16="http://schemas.microsoft.com/office/drawing/2014/main" id="{0FB985F6-0F19-B208-FF41-A1B99BFDF02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Marcador de contenido 3">
            <a:extLst>
              <a:ext uri="{FF2B5EF4-FFF2-40B4-BE49-F238E27FC236}">
                <a16:creationId xmlns:a16="http://schemas.microsoft.com/office/drawing/2014/main" id="{F6D68097-7221-4DA9-903C-E99DC0E005E9}"/>
              </a:ext>
            </a:extLst>
          </p:cNvPr>
          <p:cNvSpPr>
            <a:spLocks noGrp="1"/>
          </p:cNvSpPr>
          <p:nvPr>
            <p:ph sz="half" idx="2"/>
          </p:nvPr>
        </p:nvSpPr>
        <p:spPr>
          <a:xfrm>
            <a:off x="839788" y="2505075"/>
            <a:ext cx="5157787"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5" name="Marcador de texto 4">
            <a:extLst>
              <a:ext uri="{FF2B5EF4-FFF2-40B4-BE49-F238E27FC236}">
                <a16:creationId xmlns:a16="http://schemas.microsoft.com/office/drawing/2014/main" id="{C0FD81B2-4B37-CC96-7CF4-53E7C5E2224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Marcador de contenido 5">
            <a:extLst>
              <a:ext uri="{FF2B5EF4-FFF2-40B4-BE49-F238E27FC236}">
                <a16:creationId xmlns:a16="http://schemas.microsoft.com/office/drawing/2014/main" id="{AFE468C9-B3E0-85EB-0225-DA5A6ABB4ADA}"/>
              </a:ext>
            </a:extLst>
          </p:cNvPr>
          <p:cNvSpPr>
            <a:spLocks noGrp="1"/>
          </p:cNvSpPr>
          <p:nvPr>
            <p:ph sz="quarter" idx="4"/>
          </p:nvPr>
        </p:nvSpPr>
        <p:spPr>
          <a:xfrm>
            <a:off x="6172200" y="2505075"/>
            <a:ext cx="5183188"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7" name="Marcador de fecha 6">
            <a:extLst>
              <a:ext uri="{FF2B5EF4-FFF2-40B4-BE49-F238E27FC236}">
                <a16:creationId xmlns:a16="http://schemas.microsoft.com/office/drawing/2014/main" id="{A56EB8B9-2387-FC29-414E-C4D8E3018751}"/>
              </a:ext>
            </a:extLst>
          </p:cNvPr>
          <p:cNvSpPr>
            <a:spLocks noGrp="1"/>
          </p:cNvSpPr>
          <p:nvPr>
            <p:ph type="dt" sz="half" idx="10"/>
          </p:nvPr>
        </p:nvSpPr>
        <p:spPr/>
        <p:txBody>
          <a:bodyPr/>
          <a:lstStyle/>
          <a:p>
            <a:fld id="{C3174835-0754-2243-9205-74540C7AEDDA}" type="datetimeFigureOut">
              <a:rPr lang="es-MX" smtClean="0"/>
              <a:t>07/04/25</a:t>
            </a:fld>
            <a:endParaRPr lang="es-MX"/>
          </a:p>
        </p:txBody>
      </p:sp>
      <p:sp>
        <p:nvSpPr>
          <p:cNvPr id="8" name="Marcador de pie de página 7">
            <a:extLst>
              <a:ext uri="{FF2B5EF4-FFF2-40B4-BE49-F238E27FC236}">
                <a16:creationId xmlns:a16="http://schemas.microsoft.com/office/drawing/2014/main" id="{D2632B92-EFE8-4690-2875-B99140DB9AB7}"/>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01BC9E13-6635-2249-C3C4-CA7C49A95C1B}"/>
              </a:ext>
            </a:extLst>
          </p:cNvPr>
          <p:cNvSpPr>
            <a:spLocks noGrp="1"/>
          </p:cNvSpPr>
          <p:nvPr>
            <p:ph type="sldNum" sz="quarter" idx="12"/>
          </p:nvPr>
        </p:nvSpPr>
        <p:spPr/>
        <p:txBody>
          <a:bodyPr/>
          <a:lstStyle/>
          <a:p>
            <a:fld id="{FEA816A4-209A-E743-A4E9-90560371CA8D}" type="slidenum">
              <a:rPr lang="es-MX" smtClean="0"/>
              <a:t>‹Nº›</a:t>
            </a:fld>
            <a:endParaRPr lang="es-MX"/>
          </a:p>
        </p:txBody>
      </p:sp>
    </p:spTree>
    <p:extLst>
      <p:ext uri="{BB962C8B-B14F-4D97-AF65-F5344CB8AC3E}">
        <p14:creationId xmlns:p14="http://schemas.microsoft.com/office/powerpoint/2010/main" val="33992645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565EDA7-544F-771C-F4F4-D41BF02B2917}"/>
              </a:ext>
            </a:extLst>
          </p:cNvPr>
          <p:cNvSpPr>
            <a:spLocks noGrp="1"/>
          </p:cNvSpPr>
          <p:nvPr>
            <p:ph type="title"/>
          </p:nvPr>
        </p:nvSpPr>
        <p:spPr/>
        <p:txBody>
          <a:bodyPr/>
          <a:lstStyle/>
          <a:p>
            <a:r>
              <a:rPr lang="es-MX"/>
              <a:t>Haz clic para modificar el estilo de título del patrón</a:t>
            </a:r>
          </a:p>
        </p:txBody>
      </p:sp>
      <p:sp>
        <p:nvSpPr>
          <p:cNvPr id="3" name="Marcador de fecha 2">
            <a:extLst>
              <a:ext uri="{FF2B5EF4-FFF2-40B4-BE49-F238E27FC236}">
                <a16:creationId xmlns:a16="http://schemas.microsoft.com/office/drawing/2014/main" id="{398E96A2-313F-FD33-0208-CC88CD6BC37C}"/>
              </a:ext>
            </a:extLst>
          </p:cNvPr>
          <p:cNvSpPr>
            <a:spLocks noGrp="1"/>
          </p:cNvSpPr>
          <p:nvPr>
            <p:ph type="dt" sz="half" idx="10"/>
          </p:nvPr>
        </p:nvSpPr>
        <p:spPr/>
        <p:txBody>
          <a:bodyPr/>
          <a:lstStyle/>
          <a:p>
            <a:fld id="{C3174835-0754-2243-9205-74540C7AEDDA}" type="datetimeFigureOut">
              <a:rPr lang="es-MX" smtClean="0"/>
              <a:t>07/04/25</a:t>
            </a:fld>
            <a:endParaRPr lang="es-MX"/>
          </a:p>
        </p:txBody>
      </p:sp>
      <p:sp>
        <p:nvSpPr>
          <p:cNvPr id="4" name="Marcador de pie de página 3">
            <a:extLst>
              <a:ext uri="{FF2B5EF4-FFF2-40B4-BE49-F238E27FC236}">
                <a16:creationId xmlns:a16="http://schemas.microsoft.com/office/drawing/2014/main" id="{C77EC83F-3B85-B328-7C65-DDDE861C13F0}"/>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D9080BD3-517A-D49D-FA72-9121B7694DCD}"/>
              </a:ext>
            </a:extLst>
          </p:cNvPr>
          <p:cNvSpPr>
            <a:spLocks noGrp="1"/>
          </p:cNvSpPr>
          <p:nvPr>
            <p:ph type="sldNum" sz="quarter" idx="12"/>
          </p:nvPr>
        </p:nvSpPr>
        <p:spPr/>
        <p:txBody>
          <a:bodyPr/>
          <a:lstStyle/>
          <a:p>
            <a:fld id="{FEA816A4-209A-E743-A4E9-90560371CA8D}" type="slidenum">
              <a:rPr lang="es-MX" smtClean="0"/>
              <a:t>‹Nº›</a:t>
            </a:fld>
            <a:endParaRPr lang="es-MX"/>
          </a:p>
        </p:txBody>
      </p:sp>
    </p:spTree>
    <p:extLst>
      <p:ext uri="{BB962C8B-B14F-4D97-AF65-F5344CB8AC3E}">
        <p14:creationId xmlns:p14="http://schemas.microsoft.com/office/powerpoint/2010/main" val="13350943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D6C61D57-71FF-B03C-5CF9-C61FD29D94DF}"/>
              </a:ext>
            </a:extLst>
          </p:cNvPr>
          <p:cNvSpPr>
            <a:spLocks noGrp="1"/>
          </p:cNvSpPr>
          <p:nvPr>
            <p:ph type="dt" sz="half" idx="10"/>
          </p:nvPr>
        </p:nvSpPr>
        <p:spPr/>
        <p:txBody>
          <a:bodyPr/>
          <a:lstStyle/>
          <a:p>
            <a:fld id="{C3174835-0754-2243-9205-74540C7AEDDA}" type="datetimeFigureOut">
              <a:rPr lang="es-MX" smtClean="0"/>
              <a:t>07/04/25</a:t>
            </a:fld>
            <a:endParaRPr lang="es-MX"/>
          </a:p>
        </p:txBody>
      </p:sp>
      <p:sp>
        <p:nvSpPr>
          <p:cNvPr id="3" name="Marcador de pie de página 2">
            <a:extLst>
              <a:ext uri="{FF2B5EF4-FFF2-40B4-BE49-F238E27FC236}">
                <a16:creationId xmlns:a16="http://schemas.microsoft.com/office/drawing/2014/main" id="{EB2CEFE8-8600-E3B9-D0B9-464875726B4D}"/>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E7EB89D6-CBB1-D8D3-020D-4637E2D4F7A1}"/>
              </a:ext>
            </a:extLst>
          </p:cNvPr>
          <p:cNvSpPr>
            <a:spLocks noGrp="1"/>
          </p:cNvSpPr>
          <p:nvPr>
            <p:ph type="sldNum" sz="quarter" idx="12"/>
          </p:nvPr>
        </p:nvSpPr>
        <p:spPr/>
        <p:txBody>
          <a:bodyPr/>
          <a:lstStyle/>
          <a:p>
            <a:fld id="{FEA816A4-209A-E743-A4E9-90560371CA8D}" type="slidenum">
              <a:rPr lang="es-MX" smtClean="0"/>
              <a:t>‹Nº›</a:t>
            </a:fld>
            <a:endParaRPr lang="es-MX"/>
          </a:p>
        </p:txBody>
      </p:sp>
    </p:spTree>
    <p:extLst>
      <p:ext uri="{BB962C8B-B14F-4D97-AF65-F5344CB8AC3E}">
        <p14:creationId xmlns:p14="http://schemas.microsoft.com/office/powerpoint/2010/main" val="4313869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2767724-CAB2-3EED-A99D-CDFFA647B6CF}"/>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p>
        </p:txBody>
      </p:sp>
      <p:sp>
        <p:nvSpPr>
          <p:cNvPr id="3" name="Marcador de contenido 2">
            <a:extLst>
              <a:ext uri="{FF2B5EF4-FFF2-40B4-BE49-F238E27FC236}">
                <a16:creationId xmlns:a16="http://schemas.microsoft.com/office/drawing/2014/main" id="{D655EF90-26E8-0F36-326C-FBD5EAB3583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texto 3">
            <a:extLst>
              <a:ext uri="{FF2B5EF4-FFF2-40B4-BE49-F238E27FC236}">
                <a16:creationId xmlns:a16="http://schemas.microsoft.com/office/drawing/2014/main" id="{F54FD8DD-49D3-93FD-173C-3F0E8E0F67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83B38848-4FE9-EA41-E720-BED05AF3635E}"/>
              </a:ext>
            </a:extLst>
          </p:cNvPr>
          <p:cNvSpPr>
            <a:spLocks noGrp="1"/>
          </p:cNvSpPr>
          <p:nvPr>
            <p:ph type="dt" sz="half" idx="10"/>
          </p:nvPr>
        </p:nvSpPr>
        <p:spPr/>
        <p:txBody>
          <a:bodyPr/>
          <a:lstStyle/>
          <a:p>
            <a:fld id="{C3174835-0754-2243-9205-74540C7AEDDA}" type="datetimeFigureOut">
              <a:rPr lang="es-MX" smtClean="0"/>
              <a:t>07/04/25</a:t>
            </a:fld>
            <a:endParaRPr lang="es-MX"/>
          </a:p>
        </p:txBody>
      </p:sp>
      <p:sp>
        <p:nvSpPr>
          <p:cNvPr id="6" name="Marcador de pie de página 5">
            <a:extLst>
              <a:ext uri="{FF2B5EF4-FFF2-40B4-BE49-F238E27FC236}">
                <a16:creationId xmlns:a16="http://schemas.microsoft.com/office/drawing/2014/main" id="{F98DC50B-A40C-6A25-4EE5-7735BB235ECC}"/>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56A97F8F-8EE2-B9B3-193A-330430DFC7E3}"/>
              </a:ext>
            </a:extLst>
          </p:cNvPr>
          <p:cNvSpPr>
            <a:spLocks noGrp="1"/>
          </p:cNvSpPr>
          <p:nvPr>
            <p:ph type="sldNum" sz="quarter" idx="12"/>
          </p:nvPr>
        </p:nvSpPr>
        <p:spPr/>
        <p:txBody>
          <a:bodyPr/>
          <a:lstStyle/>
          <a:p>
            <a:fld id="{FEA816A4-209A-E743-A4E9-90560371CA8D}" type="slidenum">
              <a:rPr lang="es-MX" smtClean="0"/>
              <a:t>‹Nº›</a:t>
            </a:fld>
            <a:endParaRPr lang="es-MX"/>
          </a:p>
        </p:txBody>
      </p:sp>
    </p:spTree>
    <p:extLst>
      <p:ext uri="{BB962C8B-B14F-4D97-AF65-F5344CB8AC3E}">
        <p14:creationId xmlns:p14="http://schemas.microsoft.com/office/powerpoint/2010/main" val="29832175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364F852-356B-0853-3200-CAA608FDF9C7}"/>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p>
        </p:txBody>
      </p:sp>
      <p:sp>
        <p:nvSpPr>
          <p:cNvPr id="3" name="Marcador de posición de imagen 2">
            <a:extLst>
              <a:ext uri="{FF2B5EF4-FFF2-40B4-BE49-F238E27FC236}">
                <a16:creationId xmlns:a16="http://schemas.microsoft.com/office/drawing/2014/main" id="{40DAA4F9-E29D-0BA5-9294-0C0FE79FB68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C10A5471-8B67-40B9-6956-D619D1FE48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8A6FCD17-39B3-7BA9-F171-F6FC929CEB12}"/>
              </a:ext>
            </a:extLst>
          </p:cNvPr>
          <p:cNvSpPr>
            <a:spLocks noGrp="1"/>
          </p:cNvSpPr>
          <p:nvPr>
            <p:ph type="dt" sz="half" idx="10"/>
          </p:nvPr>
        </p:nvSpPr>
        <p:spPr/>
        <p:txBody>
          <a:bodyPr/>
          <a:lstStyle/>
          <a:p>
            <a:fld id="{C3174835-0754-2243-9205-74540C7AEDDA}" type="datetimeFigureOut">
              <a:rPr lang="es-MX" smtClean="0"/>
              <a:t>07/04/25</a:t>
            </a:fld>
            <a:endParaRPr lang="es-MX"/>
          </a:p>
        </p:txBody>
      </p:sp>
      <p:sp>
        <p:nvSpPr>
          <p:cNvPr id="6" name="Marcador de pie de página 5">
            <a:extLst>
              <a:ext uri="{FF2B5EF4-FFF2-40B4-BE49-F238E27FC236}">
                <a16:creationId xmlns:a16="http://schemas.microsoft.com/office/drawing/2014/main" id="{9955D1FE-4844-48AC-B1A7-D881EF5978EA}"/>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33141083-85A9-1C7A-7B93-6B57B981EB7E}"/>
              </a:ext>
            </a:extLst>
          </p:cNvPr>
          <p:cNvSpPr>
            <a:spLocks noGrp="1"/>
          </p:cNvSpPr>
          <p:nvPr>
            <p:ph type="sldNum" sz="quarter" idx="12"/>
          </p:nvPr>
        </p:nvSpPr>
        <p:spPr/>
        <p:txBody>
          <a:bodyPr/>
          <a:lstStyle/>
          <a:p>
            <a:fld id="{FEA816A4-209A-E743-A4E9-90560371CA8D}" type="slidenum">
              <a:rPr lang="es-MX" smtClean="0"/>
              <a:t>‹Nº›</a:t>
            </a:fld>
            <a:endParaRPr lang="es-MX"/>
          </a:p>
        </p:txBody>
      </p:sp>
    </p:spTree>
    <p:extLst>
      <p:ext uri="{BB962C8B-B14F-4D97-AF65-F5344CB8AC3E}">
        <p14:creationId xmlns:p14="http://schemas.microsoft.com/office/powerpoint/2010/main" val="39098536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AED0E1-5079-0B09-E2B8-19C45DF52A9D}"/>
              </a:ext>
            </a:extLst>
          </p:cNvPr>
          <p:cNvSpPr>
            <a:spLocks noGrp="1"/>
          </p:cNvSpPr>
          <p:nvPr>
            <p:ph type="title"/>
          </p:nvPr>
        </p:nvSpPr>
        <p:spPr/>
        <p:txBody>
          <a:bodyPr/>
          <a:lstStyle/>
          <a:p>
            <a:r>
              <a:rPr lang="es-MX"/>
              <a:t>Haz clic para modificar el estilo de título del patrón</a:t>
            </a:r>
          </a:p>
        </p:txBody>
      </p:sp>
      <p:sp>
        <p:nvSpPr>
          <p:cNvPr id="3" name="Marcador de texto vertical 2">
            <a:extLst>
              <a:ext uri="{FF2B5EF4-FFF2-40B4-BE49-F238E27FC236}">
                <a16:creationId xmlns:a16="http://schemas.microsoft.com/office/drawing/2014/main" id="{69539F1C-18E6-DBBD-F537-3E3BFB5017AC}"/>
              </a:ext>
            </a:extLst>
          </p:cNvPr>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B9C05EB8-DA57-A44C-5232-627DD069E548}"/>
              </a:ext>
            </a:extLst>
          </p:cNvPr>
          <p:cNvSpPr>
            <a:spLocks noGrp="1"/>
          </p:cNvSpPr>
          <p:nvPr>
            <p:ph type="dt" sz="half" idx="10"/>
          </p:nvPr>
        </p:nvSpPr>
        <p:spPr/>
        <p:txBody>
          <a:bodyPr/>
          <a:lstStyle/>
          <a:p>
            <a:fld id="{C3174835-0754-2243-9205-74540C7AEDDA}" type="datetimeFigureOut">
              <a:rPr lang="es-MX" smtClean="0"/>
              <a:t>07/04/25</a:t>
            </a:fld>
            <a:endParaRPr lang="es-MX"/>
          </a:p>
        </p:txBody>
      </p:sp>
      <p:sp>
        <p:nvSpPr>
          <p:cNvPr id="5" name="Marcador de pie de página 4">
            <a:extLst>
              <a:ext uri="{FF2B5EF4-FFF2-40B4-BE49-F238E27FC236}">
                <a16:creationId xmlns:a16="http://schemas.microsoft.com/office/drawing/2014/main" id="{803F25B2-390B-44E5-956E-E2F05F7E3D51}"/>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DC38A9FB-3465-ACE8-F022-509DD303B052}"/>
              </a:ext>
            </a:extLst>
          </p:cNvPr>
          <p:cNvSpPr>
            <a:spLocks noGrp="1"/>
          </p:cNvSpPr>
          <p:nvPr>
            <p:ph type="sldNum" sz="quarter" idx="12"/>
          </p:nvPr>
        </p:nvSpPr>
        <p:spPr/>
        <p:txBody>
          <a:bodyPr/>
          <a:lstStyle/>
          <a:p>
            <a:fld id="{FEA816A4-209A-E743-A4E9-90560371CA8D}" type="slidenum">
              <a:rPr lang="es-MX" smtClean="0"/>
              <a:t>‹Nº›</a:t>
            </a:fld>
            <a:endParaRPr lang="es-MX"/>
          </a:p>
        </p:txBody>
      </p:sp>
    </p:spTree>
    <p:extLst>
      <p:ext uri="{BB962C8B-B14F-4D97-AF65-F5344CB8AC3E}">
        <p14:creationId xmlns:p14="http://schemas.microsoft.com/office/powerpoint/2010/main" val="40500036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ECDC366-98A3-CC53-8E59-A88A0D760ED2}"/>
              </a:ext>
            </a:extLst>
          </p:cNvPr>
          <p:cNvSpPr>
            <a:spLocks noGrp="1"/>
          </p:cNvSpPr>
          <p:nvPr>
            <p:ph type="title" orient="vert"/>
          </p:nvPr>
        </p:nvSpPr>
        <p:spPr>
          <a:xfrm>
            <a:off x="8724900" y="365125"/>
            <a:ext cx="2628900" cy="5811838"/>
          </a:xfrm>
        </p:spPr>
        <p:txBody>
          <a:bodyPr vert="eaVert"/>
          <a:lstStyle/>
          <a:p>
            <a:r>
              <a:rPr lang="es-MX"/>
              <a:t>Haz clic para modificar el estilo de título del patrón</a:t>
            </a:r>
          </a:p>
        </p:txBody>
      </p:sp>
      <p:sp>
        <p:nvSpPr>
          <p:cNvPr id="3" name="Marcador de texto vertical 2">
            <a:extLst>
              <a:ext uri="{FF2B5EF4-FFF2-40B4-BE49-F238E27FC236}">
                <a16:creationId xmlns:a16="http://schemas.microsoft.com/office/drawing/2014/main" id="{74E894A7-0AAB-16B2-5546-F5B676365CCA}"/>
              </a:ext>
            </a:extLst>
          </p:cNvPr>
          <p:cNvSpPr>
            <a:spLocks noGrp="1"/>
          </p:cNvSpPr>
          <p:nvPr>
            <p:ph type="body" orient="vert" idx="1"/>
          </p:nvPr>
        </p:nvSpPr>
        <p:spPr>
          <a:xfrm>
            <a:off x="838200" y="365125"/>
            <a:ext cx="7734300" cy="5811838"/>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7DF9329D-3B80-AA32-B4F9-1343FE26D7A2}"/>
              </a:ext>
            </a:extLst>
          </p:cNvPr>
          <p:cNvSpPr>
            <a:spLocks noGrp="1"/>
          </p:cNvSpPr>
          <p:nvPr>
            <p:ph type="dt" sz="half" idx="10"/>
          </p:nvPr>
        </p:nvSpPr>
        <p:spPr/>
        <p:txBody>
          <a:bodyPr/>
          <a:lstStyle/>
          <a:p>
            <a:fld id="{C3174835-0754-2243-9205-74540C7AEDDA}" type="datetimeFigureOut">
              <a:rPr lang="es-MX" smtClean="0"/>
              <a:t>07/04/25</a:t>
            </a:fld>
            <a:endParaRPr lang="es-MX"/>
          </a:p>
        </p:txBody>
      </p:sp>
      <p:sp>
        <p:nvSpPr>
          <p:cNvPr id="5" name="Marcador de pie de página 4">
            <a:extLst>
              <a:ext uri="{FF2B5EF4-FFF2-40B4-BE49-F238E27FC236}">
                <a16:creationId xmlns:a16="http://schemas.microsoft.com/office/drawing/2014/main" id="{25AB1F9D-07B7-65E9-D829-D7F951B942A0}"/>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672E99FD-71AD-3390-01AA-B4A829524D4B}"/>
              </a:ext>
            </a:extLst>
          </p:cNvPr>
          <p:cNvSpPr>
            <a:spLocks noGrp="1"/>
          </p:cNvSpPr>
          <p:nvPr>
            <p:ph type="sldNum" sz="quarter" idx="12"/>
          </p:nvPr>
        </p:nvSpPr>
        <p:spPr/>
        <p:txBody>
          <a:bodyPr/>
          <a:lstStyle/>
          <a:p>
            <a:fld id="{FEA816A4-209A-E743-A4E9-90560371CA8D}" type="slidenum">
              <a:rPr lang="es-MX" smtClean="0"/>
              <a:t>‹Nº›</a:t>
            </a:fld>
            <a:endParaRPr lang="es-MX"/>
          </a:p>
        </p:txBody>
      </p:sp>
    </p:spTree>
    <p:extLst>
      <p:ext uri="{BB962C8B-B14F-4D97-AF65-F5344CB8AC3E}">
        <p14:creationId xmlns:p14="http://schemas.microsoft.com/office/powerpoint/2010/main" val="30195681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7D175037-A2DF-B881-B082-8A35CD8210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p>
        </p:txBody>
      </p:sp>
      <p:sp>
        <p:nvSpPr>
          <p:cNvPr id="3" name="Marcador de texto 2">
            <a:extLst>
              <a:ext uri="{FF2B5EF4-FFF2-40B4-BE49-F238E27FC236}">
                <a16:creationId xmlns:a16="http://schemas.microsoft.com/office/drawing/2014/main" id="{D783FF66-828C-88E9-C3C2-CDA8C673B57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8E852127-01FA-1E4C-5A20-E5A5F7E7796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3174835-0754-2243-9205-74540C7AEDDA}" type="datetimeFigureOut">
              <a:rPr lang="es-MX" smtClean="0"/>
              <a:t>07/04/25</a:t>
            </a:fld>
            <a:endParaRPr lang="es-MX"/>
          </a:p>
        </p:txBody>
      </p:sp>
      <p:sp>
        <p:nvSpPr>
          <p:cNvPr id="5" name="Marcador de pie de página 4">
            <a:extLst>
              <a:ext uri="{FF2B5EF4-FFF2-40B4-BE49-F238E27FC236}">
                <a16:creationId xmlns:a16="http://schemas.microsoft.com/office/drawing/2014/main" id="{C3549313-B72A-17AE-8B50-563F2AFDC39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a:p>
        </p:txBody>
      </p:sp>
      <p:sp>
        <p:nvSpPr>
          <p:cNvPr id="6" name="Marcador de número de diapositiva 5">
            <a:extLst>
              <a:ext uri="{FF2B5EF4-FFF2-40B4-BE49-F238E27FC236}">
                <a16:creationId xmlns:a16="http://schemas.microsoft.com/office/drawing/2014/main" id="{321F584F-3A2C-8880-7FDA-19C94D0CE26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EA816A4-209A-E743-A4E9-90560371CA8D}" type="slidenum">
              <a:rPr lang="es-MX" smtClean="0"/>
              <a:t>‹Nº›</a:t>
            </a:fld>
            <a:endParaRPr lang="es-MX"/>
          </a:p>
        </p:txBody>
      </p:sp>
    </p:spTree>
    <p:extLst>
      <p:ext uri="{BB962C8B-B14F-4D97-AF65-F5344CB8AC3E}">
        <p14:creationId xmlns:p14="http://schemas.microsoft.com/office/powerpoint/2010/main" val="32651329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0" name="Rectangle 1039">
            <a:extLst>
              <a:ext uri="{FF2B5EF4-FFF2-40B4-BE49-F238E27FC236}">
                <a16:creationId xmlns:a16="http://schemas.microsoft.com/office/drawing/2014/main" id="{ECC07320-C2CA-4E29-8481-9D9E143C77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descr="undefined">
            <a:extLst>
              <a:ext uri="{FF2B5EF4-FFF2-40B4-BE49-F238E27FC236}">
                <a16:creationId xmlns:a16="http://schemas.microsoft.com/office/drawing/2014/main" id="{CC63597B-29B8-C9B0-5DB0-E31B5165EF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3506"/>
          <a:stretch/>
        </p:blipFill>
        <p:spPr bwMode="auto">
          <a:xfrm>
            <a:off x="2522358" y="10"/>
            <a:ext cx="9669642" cy="6857990"/>
          </a:xfrm>
          <a:prstGeom prst="rect">
            <a:avLst/>
          </a:prstGeom>
          <a:noFill/>
          <a:extLst>
            <a:ext uri="{909E8E84-426E-40DD-AFC4-6F175D3DCCD1}">
              <a14:hiddenFill xmlns:a14="http://schemas.microsoft.com/office/drawing/2010/main">
                <a:solidFill>
                  <a:srgbClr val="FFFFFF"/>
                </a:solidFill>
              </a14:hiddenFill>
            </a:ext>
          </a:extLst>
        </p:spPr>
      </p:pic>
      <p:sp>
        <p:nvSpPr>
          <p:cNvPr id="1042" name="Rectangle 1041">
            <a:extLst>
              <a:ext uri="{FF2B5EF4-FFF2-40B4-BE49-F238E27FC236}">
                <a16:creationId xmlns:a16="http://schemas.microsoft.com/office/drawing/2014/main" id="{178FB36B-5BFE-42CA-BC60-1115E0D95E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A3FCB1CA-4E64-6046-A6FB-11699AC9592D}"/>
              </a:ext>
            </a:extLst>
          </p:cNvPr>
          <p:cNvSpPr>
            <a:spLocks noGrp="1"/>
          </p:cNvSpPr>
          <p:nvPr>
            <p:ph type="ctrTitle"/>
          </p:nvPr>
        </p:nvSpPr>
        <p:spPr>
          <a:xfrm>
            <a:off x="952228" y="743447"/>
            <a:ext cx="3973385" cy="3692028"/>
          </a:xfrm>
          <a:noFill/>
        </p:spPr>
        <p:txBody>
          <a:bodyPr>
            <a:normAutofit/>
          </a:bodyPr>
          <a:lstStyle/>
          <a:p>
            <a:pPr algn="l"/>
            <a:r>
              <a:rPr lang="es-MX" sz="5200" dirty="0"/>
              <a:t>Análisis de datos del Titanic</a:t>
            </a:r>
          </a:p>
        </p:txBody>
      </p:sp>
    </p:spTree>
    <p:extLst>
      <p:ext uri="{BB962C8B-B14F-4D97-AF65-F5344CB8AC3E}">
        <p14:creationId xmlns:p14="http://schemas.microsoft.com/office/powerpoint/2010/main" val="211150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B720FB7-A192-D5B9-25EF-D3258AD103D3}"/>
              </a:ext>
            </a:extLst>
          </p:cNvPr>
          <p:cNvSpPr>
            <a:spLocks noGrp="1"/>
          </p:cNvSpPr>
          <p:nvPr>
            <p:ph type="title"/>
          </p:nvPr>
        </p:nvSpPr>
        <p:spPr/>
        <p:txBody>
          <a:bodyPr/>
          <a:lstStyle/>
          <a:p>
            <a:r>
              <a:rPr lang="es-MX" dirty="0"/>
              <a:t>Confusion matrix</a:t>
            </a:r>
          </a:p>
        </p:txBody>
      </p:sp>
      <p:sp>
        <p:nvSpPr>
          <p:cNvPr id="3" name="Marcador de contenido 2">
            <a:extLst>
              <a:ext uri="{FF2B5EF4-FFF2-40B4-BE49-F238E27FC236}">
                <a16:creationId xmlns:a16="http://schemas.microsoft.com/office/drawing/2014/main" id="{371C96B8-E2EB-1655-1D04-A8955031BF91}"/>
              </a:ext>
            </a:extLst>
          </p:cNvPr>
          <p:cNvSpPr>
            <a:spLocks noGrp="1"/>
          </p:cNvSpPr>
          <p:nvPr>
            <p:ph idx="1"/>
          </p:nvPr>
        </p:nvSpPr>
        <p:spPr/>
        <p:txBody>
          <a:bodyPr>
            <a:normAutofit fontScale="62500" lnSpcReduction="20000"/>
          </a:bodyPr>
          <a:lstStyle/>
          <a:p>
            <a:r>
              <a:rPr lang="es-MX" dirty="0">
                <a:solidFill>
                  <a:srgbClr val="000000"/>
                </a:solidFill>
                <a:effectLst/>
                <a:latin typeface="Arial" panose="020B0604020202020204" pitchFamily="34" charset="0"/>
              </a:rPr>
              <a:t>Filas (Prediction): Lo que el modelo predijo (0 o 1).</a:t>
            </a:r>
          </a:p>
          <a:p>
            <a:r>
              <a:rPr lang="es-MX" dirty="0">
                <a:solidFill>
                  <a:srgbClr val="000000"/>
                </a:solidFill>
                <a:effectLst/>
                <a:latin typeface="Arial" panose="020B0604020202020204" pitchFamily="34" charset="0"/>
              </a:rPr>
              <a:t>Columnas (Reference): Los valores reales (0 o 1).</a:t>
            </a:r>
          </a:p>
          <a:p>
            <a:endParaRPr lang="es-MX" dirty="0">
              <a:solidFill>
                <a:srgbClr val="000000"/>
              </a:solidFill>
              <a:effectLst/>
              <a:latin typeface="Arial" panose="020B0604020202020204" pitchFamily="34" charset="0"/>
            </a:endParaRPr>
          </a:p>
          <a:p>
            <a:pPr marL="0" indent="0" rtl="0">
              <a:buNone/>
            </a:pPr>
            <a:r>
              <a:rPr lang="es-MX" dirty="0">
                <a:solidFill>
                  <a:srgbClr val="000000"/>
                </a:solidFill>
                <a:effectLst/>
                <a:latin typeface="Arial" panose="020B0604020202020204" pitchFamily="34" charset="0"/>
              </a:rPr>
              <a:t>Desglose:</a:t>
            </a:r>
          </a:p>
          <a:p>
            <a:pPr marL="0" indent="0" rtl="0">
              <a:buNone/>
            </a:pPr>
            <a:r>
              <a:rPr lang="es-MX" dirty="0">
                <a:solidFill>
                  <a:srgbClr val="000000"/>
                </a:solidFill>
                <a:effectLst/>
                <a:latin typeface="Arial" panose="020B0604020202020204" pitchFamily="34" charset="0"/>
              </a:rPr>
              <a:t>Verdaderos Negativos (TN): 248 casos fueron predichos como "0" y realmente eran "0".</a:t>
            </a:r>
          </a:p>
          <a:p>
            <a:pPr marL="0" indent="0" rtl="0">
              <a:buNone/>
            </a:pPr>
            <a:r>
              <a:rPr lang="es-MX" dirty="0">
                <a:solidFill>
                  <a:srgbClr val="000000"/>
                </a:solidFill>
                <a:effectLst/>
                <a:latin typeface="Arial" panose="020B0604020202020204" pitchFamily="34" charset="0"/>
              </a:rPr>
              <a:t>Falsos Positivos (FP): 36 casos fueron predichos como "1", pero eran "0".</a:t>
            </a:r>
          </a:p>
          <a:p>
            <a:pPr marL="0" indent="0" rtl="0">
              <a:buNone/>
            </a:pPr>
            <a:r>
              <a:rPr lang="es-MX" dirty="0">
                <a:solidFill>
                  <a:srgbClr val="000000"/>
                </a:solidFill>
                <a:effectLst/>
                <a:latin typeface="Arial" panose="020B0604020202020204" pitchFamily="34" charset="0"/>
              </a:rPr>
              <a:t>Falsos Negativos (FN): 70 casos fueron predichos como "0", pero eran "1".</a:t>
            </a:r>
          </a:p>
          <a:p>
            <a:pPr marL="0" indent="0" rtl="0">
              <a:buNone/>
            </a:pPr>
            <a:r>
              <a:rPr lang="es-MX" dirty="0">
                <a:solidFill>
                  <a:srgbClr val="000000"/>
                </a:solidFill>
                <a:effectLst/>
                <a:latin typeface="Arial" panose="020B0604020202020204" pitchFamily="34" charset="0"/>
              </a:rPr>
              <a:t>Verdaderos Positivos (TP): 146 casos fueron predichos como "1" y realmente eran "1".</a:t>
            </a:r>
          </a:p>
          <a:p>
            <a:pPr marL="0" indent="0" rtl="0">
              <a:buNone/>
            </a:pPr>
            <a:endParaRPr lang="es-MX" dirty="0">
              <a:solidFill>
                <a:srgbClr val="000000"/>
              </a:solidFill>
              <a:effectLst/>
              <a:latin typeface="Arial" panose="020B0604020202020204" pitchFamily="34" charset="0"/>
            </a:endParaRPr>
          </a:p>
          <a:p>
            <a:pPr marL="0" indent="0" rtl="0">
              <a:buNone/>
            </a:pPr>
            <a:r>
              <a:rPr lang="es-MX" dirty="0">
                <a:solidFill>
                  <a:srgbClr val="000000"/>
                </a:solidFill>
                <a:effectLst/>
                <a:latin typeface="Arial" panose="020B0604020202020204" pitchFamily="34" charset="0"/>
              </a:rPr>
              <a:t>Totales:</a:t>
            </a:r>
          </a:p>
          <a:p>
            <a:pPr marL="0" indent="0" rtl="0">
              <a:buNone/>
            </a:pPr>
            <a:r>
              <a:rPr lang="es-MX" dirty="0">
                <a:solidFill>
                  <a:srgbClr val="000000"/>
                </a:solidFill>
                <a:effectLst/>
                <a:latin typeface="Arial" panose="020B0604020202020204" pitchFamily="34" charset="0"/>
              </a:rPr>
              <a:t>Total de casos: 248 + 36 + 70 + 146 = 500.</a:t>
            </a:r>
          </a:p>
          <a:p>
            <a:pPr marL="0" indent="0" rtl="0">
              <a:buNone/>
            </a:pPr>
            <a:r>
              <a:rPr lang="es-MX" dirty="0">
                <a:solidFill>
                  <a:srgbClr val="000000"/>
                </a:solidFill>
                <a:effectLst/>
                <a:latin typeface="Arial" panose="020B0604020202020204" pitchFamily="34" charset="0"/>
              </a:rPr>
              <a:t>Casos reales de "0": 248 + 36 = 284.</a:t>
            </a:r>
          </a:p>
          <a:p>
            <a:pPr marL="0" indent="0" rtl="0">
              <a:buNone/>
            </a:pPr>
            <a:r>
              <a:rPr lang="es-MX" dirty="0">
                <a:solidFill>
                  <a:srgbClr val="000000"/>
                </a:solidFill>
                <a:effectLst/>
                <a:latin typeface="Arial" panose="020B0604020202020204" pitchFamily="34" charset="0"/>
              </a:rPr>
              <a:t>Casos reales de "1": 70 + 146 = 216.</a:t>
            </a:r>
          </a:p>
          <a:p>
            <a:endParaRPr lang="es-MX" dirty="0"/>
          </a:p>
        </p:txBody>
      </p:sp>
    </p:spTree>
    <p:extLst>
      <p:ext uri="{BB962C8B-B14F-4D97-AF65-F5344CB8AC3E}">
        <p14:creationId xmlns:p14="http://schemas.microsoft.com/office/powerpoint/2010/main" val="14472951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264F3A-A726-59D9-2F9F-6AB8DB7D09E8}"/>
              </a:ext>
            </a:extLst>
          </p:cNvPr>
          <p:cNvSpPr>
            <a:spLocks noGrp="1"/>
          </p:cNvSpPr>
          <p:nvPr>
            <p:ph type="title"/>
          </p:nvPr>
        </p:nvSpPr>
        <p:spPr/>
        <p:txBody>
          <a:bodyPr/>
          <a:lstStyle/>
          <a:p>
            <a:r>
              <a:rPr lang="es-MX" dirty="0">
                <a:solidFill>
                  <a:srgbClr val="000000"/>
                </a:solidFill>
                <a:effectLst/>
                <a:latin typeface="Arial" panose="020B0604020202020204" pitchFamily="34" charset="0"/>
              </a:rPr>
              <a:t>Interpretacion</a:t>
            </a:r>
            <a:br>
              <a:rPr lang="es-MX" dirty="0">
                <a:solidFill>
                  <a:srgbClr val="000000"/>
                </a:solidFill>
                <a:effectLst/>
                <a:latin typeface="Arial" panose="020B0604020202020204" pitchFamily="34" charset="0"/>
              </a:rPr>
            </a:br>
            <a:endParaRPr lang="es-MX" dirty="0"/>
          </a:p>
        </p:txBody>
      </p:sp>
      <p:sp>
        <p:nvSpPr>
          <p:cNvPr id="3" name="Marcador de contenido 2">
            <a:extLst>
              <a:ext uri="{FF2B5EF4-FFF2-40B4-BE49-F238E27FC236}">
                <a16:creationId xmlns:a16="http://schemas.microsoft.com/office/drawing/2014/main" id="{91127C74-D629-EA4E-B295-5C83949286E4}"/>
              </a:ext>
            </a:extLst>
          </p:cNvPr>
          <p:cNvSpPr>
            <a:spLocks noGrp="1"/>
          </p:cNvSpPr>
          <p:nvPr>
            <p:ph idx="1"/>
          </p:nvPr>
        </p:nvSpPr>
        <p:spPr/>
        <p:txBody>
          <a:bodyPr>
            <a:normAutofit fontScale="62500" lnSpcReduction="20000"/>
          </a:bodyPr>
          <a:lstStyle/>
          <a:p>
            <a:pPr rtl="0"/>
            <a:r>
              <a:rPr lang="es-MX" dirty="0">
                <a:solidFill>
                  <a:srgbClr val="000000"/>
                </a:solidFill>
                <a:effectLst/>
                <a:latin typeface="Arial" panose="020B0604020202020204" pitchFamily="34" charset="0"/>
              </a:rPr>
              <a:t>Accuracy: 0.788</a:t>
            </a:r>
          </a:p>
          <a:p>
            <a:pPr marL="0" indent="0" rtl="0">
              <a:buNone/>
            </a:pPr>
            <a:r>
              <a:rPr lang="es-MX" dirty="0">
                <a:solidFill>
                  <a:srgbClr val="000000"/>
                </a:solidFill>
                <a:effectLst/>
                <a:latin typeface="Arial" panose="020B0604020202020204" pitchFamily="34" charset="0"/>
              </a:rPr>
              <a:t>Proporción de predicciones correctas: (TP + TN) / Total = (146 + 248) / 500 = 0.788. El modelo acierta el 78.8% de las veces.</a:t>
            </a:r>
          </a:p>
          <a:p>
            <a:pPr marL="0" indent="0" rtl="0">
              <a:buNone/>
            </a:pPr>
            <a:endParaRPr lang="es-MX" dirty="0">
              <a:solidFill>
                <a:srgbClr val="000000"/>
              </a:solidFill>
              <a:effectLst/>
              <a:latin typeface="Arial" panose="020B0604020202020204" pitchFamily="34" charset="0"/>
            </a:endParaRPr>
          </a:p>
          <a:p>
            <a:pPr rtl="0"/>
            <a:r>
              <a:rPr lang="es-MX" dirty="0">
                <a:solidFill>
                  <a:srgbClr val="000000"/>
                </a:solidFill>
                <a:effectLst/>
                <a:latin typeface="Arial" panose="020B0604020202020204" pitchFamily="34" charset="0"/>
              </a:rPr>
              <a:t>95% CI: (0.7495, 0.823)</a:t>
            </a:r>
          </a:p>
          <a:p>
            <a:pPr marL="0" indent="0" rtl="0">
              <a:buNone/>
            </a:pPr>
            <a:r>
              <a:rPr lang="es-MX" dirty="0">
                <a:solidFill>
                  <a:srgbClr val="000000"/>
                </a:solidFill>
                <a:effectLst/>
                <a:latin typeface="Arial" panose="020B0604020202020204" pitchFamily="34" charset="0"/>
              </a:rPr>
              <a:t>Intervalo de confianza del 95% para la precisión. La verdadera precisión está entre 74.95% y 82.3% con alta probabilidad.</a:t>
            </a:r>
          </a:p>
          <a:p>
            <a:pPr marL="0" indent="0" rtl="0">
              <a:buNone/>
            </a:pPr>
            <a:endParaRPr lang="es-MX" dirty="0">
              <a:solidFill>
                <a:srgbClr val="000000"/>
              </a:solidFill>
              <a:effectLst/>
              <a:latin typeface="Arial" panose="020B0604020202020204" pitchFamily="34" charset="0"/>
            </a:endParaRPr>
          </a:p>
          <a:p>
            <a:pPr rtl="0"/>
            <a:r>
              <a:rPr lang="es-MX" dirty="0">
                <a:solidFill>
                  <a:srgbClr val="000000"/>
                </a:solidFill>
                <a:effectLst/>
                <a:latin typeface="Arial" panose="020B0604020202020204" pitchFamily="34" charset="0"/>
              </a:rPr>
              <a:t>No Information Rate (NIR): 0.568</a:t>
            </a:r>
          </a:p>
          <a:p>
            <a:pPr marL="0" indent="0" rtl="0">
              <a:buNone/>
            </a:pPr>
            <a:r>
              <a:rPr lang="es-MX" dirty="0">
                <a:solidFill>
                  <a:srgbClr val="000000"/>
                </a:solidFill>
                <a:effectLst/>
                <a:latin typeface="Arial" panose="020B0604020202020204" pitchFamily="34" charset="0"/>
              </a:rPr>
              <a:t>Proporción de la clase mayoritaria ("0"): 284 / 500 = 0.568. El modelo (0.788) supera este valor, lo que indica que es mejor que simplemente predecir "0" siempre.</a:t>
            </a:r>
          </a:p>
          <a:p>
            <a:pPr marL="0" indent="0" rtl="0">
              <a:buNone/>
            </a:pPr>
            <a:endParaRPr lang="es-MX" dirty="0">
              <a:solidFill>
                <a:srgbClr val="000000"/>
              </a:solidFill>
              <a:effectLst/>
              <a:latin typeface="Arial" panose="020B0604020202020204" pitchFamily="34" charset="0"/>
            </a:endParaRPr>
          </a:p>
          <a:p>
            <a:pPr rtl="0"/>
            <a:r>
              <a:rPr lang="es-MX" dirty="0">
                <a:solidFill>
                  <a:srgbClr val="000000"/>
                </a:solidFill>
                <a:effectLst/>
                <a:latin typeface="Arial" panose="020B0604020202020204" pitchFamily="34" charset="0"/>
              </a:rPr>
              <a:t>P-Value [Acc &gt; NIR]: &lt; 2.2e-16</a:t>
            </a:r>
          </a:p>
          <a:p>
            <a:pPr marL="0" indent="0" rtl="0">
              <a:buNone/>
            </a:pPr>
            <a:r>
              <a:rPr lang="es-MX" dirty="0">
                <a:solidFill>
                  <a:srgbClr val="000000"/>
                </a:solidFill>
                <a:effectLst/>
                <a:latin typeface="Arial" panose="020B0604020202020204" pitchFamily="34" charset="0"/>
              </a:rPr>
              <a:t>La precisión del modelo es significativamente mayor que el NIR. El modelo tiene un desempeño real, no es solo azar.</a:t>
            </a:r>
          </a:p>
          <a:p>
            <a:pPr marL="0" indent="0">
              <a:buNone/>
            </a:pPr>
            <a:endParaRPr lang="es-MX" dirty="0"/>
          </a:p>
        </p:txBody>
      </p:sp>
    </p:spTree>
    <p:extLst>
      <p:ext uri="{BB962C8B-B14F-4D97-AF65-F5344CB8AC3E}">
        <p14:creationId xmlns:p14="http://schemas.microsoft.com/office/powerpoint/2010/main" val="32027300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BEF21A33-54C0-D0EC-83E0-96391932A983}"/>
              </a:ext>
            </a:extLst>
          </p:cNvPr>
          <p:cNvSpPr>
            <a:spLocks noGrp="1"/>
          </p:cNvSpPr>
          <p:nvPr>
            <p:ph idx="1"/>
          </p:nvPr>
        </p:nvSpPr>
        <p:spPr>
          <a:xfrm>
            <a:off x="844062" y="539262"/>
            <a:ext cx="10509738" cy="5637701"/>
          </a:xfrm>
        </p:spPr>
        <p:txBody>
          <a:bodyPr>
            <a:normAutofit fontScale="77500" lnSpcReduction="20000"/>
          </a:bodyPr>
          <a:lstStyle/>
          <a:p>
            <a:pPr rtl="0"/>
            <a:r>
              <a:rPr lang="es-MX" dirty="0">
                <a:solidFill>
                  <a:srgbClr val="000000"/>
                </a:solidFill>
                <a:effectLst/>
                <a:latin typeface="Arial" panose="020B0604020202020204" pitchFamily="34" charset="0"/>
              </a:rPr>
              <a:t>Kappa: 0.5597</a:t>
            </a:r>
          </a:p>
          <a:p>
            <a:pPr marL="0" indent="0" rtl="0">
              <a:buNone/>
            </a:pPr>
            <a:r>
              <a:rPr lang="es-MX" dirty="0">
                <a:solidFill>
                  <a:srgbClr val="000000"/>
                </a:solidFill>
                <a:effectLst/>
                <a:latin typeface="Arial" panose="020B0604020202020204" pitchFamily="34" charset="0"/>
              </a:rPr>
              <a:t>Mide el acuerdo ajustado por el azar. Un valor de 0.5597 indica un acuerdo moderado</a:t>
            </a:r>
          </a:p>
          <a:p>
            <a:pPr marL="0" indent="0" rtl="0">
              <a:buNone/>
            </a:pPr>
            <a:endParaRPr lang="es-MX" dirty="0">
              <a:solidFill>
                <a:srgbClr val="000000"/>
              </a:solidFill>
              <a:effectLst/>
              <a:latin typeface="Arial" panose="020B0604020202020204" pitchFamily="34" charset="0"/>
            </a:endParaRPr>
          </a:p>
          <a:p>
            <a:pPr rtl="0"/>
            <a:r>
              <a:rPr lang="es-MX" dirty="0">
                <a:solidFill>
                  <a:srgbClr val="000000"/>
                </a:solidFill>
                <a:effectLst/>
                <a:latin typeface="Arial" panose="020B0604020202020204" pitchFamily="34" charset="0"/>
              </a:rPr>
              <a:t>McNemar's Test P-Value: 0.001349</a:t>
            </a:r>
          </a:p>
          <a:p>
            <a:pPr marL="0" indent="0" rtl="0">
              <a:buNone/>
            </a:pPr>
            <a:r>
              <a:rPr lang="es-MX" dirty="0">
                <a:solidFill>
                  <a:srgbClr val="000000"/>
                </a:solidFill>
                <a:effectLst/>
                <a:latin typeface="Arial" panose="020B0604020202020204" pitchFamily="34" charset="0"/>
              </a:rPr>
              <a:t>Hay una diferencia significativa entre falsos positivos (36) y falsos negativos (70). Esto sugiere que el modelo no comete errores simétricos (más FN que FP).</a:t>
            </a:r>
          </a:p>
          <a:p>
            <a:pPr marL="0" indent="0" rtl="0">
              <a:buNone/>
            </a:pPr>
            <a:endParaRPr lang="es-MX" dirty="0">
              <a:solidFill>
                <a:srgbClr val="000000"/>
              </a:solidFill>
              <a:effectLst/>
              <a:latin typeface="Arial" panose="020B0604020202020204" pitchFamily="34" charset="0"/>
            </a:endParaRPr>
          </a:p>
          <a:p>
            <a:pPr rtl="0"/>
            <a:r>
              <a:rPr lang="es-MX" dirty="0">
                <a:solidFill>
                  <a:srgbClr val="000000"/>
                </a:solidFill>
                <a:effectLst/>
                <a:latin typeface="Arial" panose="020B0604020202020204" pitchFamily="34" charset="0"/>
              </a:rPr>
              <a:t>Sensitivity: 0.6759</a:t>
            </a:r>
          </a:p>
          <a:p>
            <a:pPr marL="0" indent="0" rtl="0">
              <a:buNone/>
            </a:pPr>
            <a:r>
              <a:rPr lang="es-MX" dirty="0">
                <a:solidFill>
                  <a:srgbClr val="000000"/>
                </a:solidFill>
                <a:effectLst/>
                <a:latin typeface="Arial" panose="020B0604020202020204" pitchFamily="34" charset="0"/>
              </a:rPr>
              <a:t>Tasa de verdaderos positivos: TP / (TP + FN) = 146 / (146 + 70) = 146 / 216 ≈ 0.6759. El modelo detecta el 67.59% de los casos reales de "1". </a:t>
            </a:r>
          </a:p>
          <a:p>
            <a:pPr marL="0" indent="0" rtl="0">
              <a:buNone/>
            </a:pPr>
            <a:endParaRPr lang="es-MX" dirty="0">
              <a:solidFill>
                <a:srgbClr val="000000"/>
              </a:solidFill>
              <a:effectLst/>
              <a:latin typeface="Arial" panose="020B0604020202020204" pitchFamily="34" charset="0"/>
            </a:endParaRPr>
          </a:p>
          <a:p>
            <a:pPr rtl="0"/>
            <a:r>
              <a:rPr lang="es-MX" dirty="0">
                <a:solidFill>
                  <a:srgbClr val="000000"/>
                </a:solidFill>
                <a:effectLst/>
                <a:latin typeface="Arial" panose="020B0604020202020204" pitchFamily="34" charset="0"/>
              </a:rPr>
              <a:t>Specificity: 0.8732</a:t>
            </a:r>
          </a:p>
          <a:p>
            <a:pPr marL="0" indent="0" rtl="0">
              <a:buNone/>
            </a:pPr>
            <a:r>
              <a:rPr lang="es-MX" dirty="0">
                <a:solidFill>
                  <a:srgbClr val="000000"/>
                </a:solidFill>
                <a:effectLst/>
                <a:latin typeface="Arial" panose="020B0604020202020204" pitchFamily="34" charset="0"/>
              </a:rPr>
              <a:t>Tasa de verdaderos negativos: TN / (TN + FP) = 248 / (248 + 36) = 248 / 284 ≈ 0.8732. El modelo identifica correctamente el 87.32% de los casos de "0". </a:t>
            </a:r>
          </a:p>
        </p:txBody>
      </p:sp>
    </p:spTree>
    <p:extLst>
      <p:ext uri="{BB962C8B-B14F-4D97-AF65-F5344CB8AC3E}">
        <p14:creationId xmlns:p14="http://schemas.microsoft.com/office/powerpoint/2010/main" val="19665726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3B9A981-D27B-A8E4-E54C-860DCA8405F8}"/>
              </a:ext>
            </a:extLst>
          </p:cNvPr>
          <p:cNvSpPr>
            <a:spLocks noGrp="1"/>
          </p:cNvSpPr>
          <p:nvPr>
            <p:ph type="title"/>
          </p:nvPr>
        </p:nvSpPr>
        <p:spPr/>
        <p:txBody>
          <a:bodyPr/>
          <a:lstStyle/>
          <a:p>
            <a:endParaRPr lang="es-MX"/>
          </a:p>
        </p:txBody>
      </p:sp>
      <p:sp>
        <p:nvSpPr>
          <p:cNvPr id="3" name="Marcador de contenido 2">
            <a:extLst>
              <a:ext uri="{FF2B5EF4-FFF2-40B4-BE49-F238E27FC236}">
                <a16:creationId xmlns:a16="http://schemas.microsoft.com/office/drawing/2014/main" id="{B3A122EA-6596-993C-2807-06F88C64D04C}"/>
              </a:ext>
            </a:extLst>
          </p:cNvPr>
          <p:cNvSpPr>
            <a:spLocks noGrp="1"/>
          </p:cNvSpPr>
          <p:nvPr>
            <p:ph idx="1"/>
          </p:nvPr>
        </p:nvSpPr>
        <p:spPr/>
        <p:txBody>
          <a:bodyPr>
            <a:normAutofit fontScale="85000" lnSpcReduction="20000"/>
          </a:bodyPr>
          <a:lstStyle/>
          <a:p>
            <a:pPr rtl="0"/>
            <a:r>
              <a:rPr lang="es-MX" dirty="0">
                <a:solidFill>
                  <a:srgbClr val="000000"/>
                </a:solidFill>
                <a:effectLst/>
                <a:latin typeface="Arial" panose="020B0604020202020204" pitchFamily="34" charset="0"/>
              </a:rPr>
              <a:t>Positive Predictive Value (PPV): 0.8022</a:t>
            </a:r>
          </a:p>
          <a:p>
            <a:pPr marL="0" indent="0" rtl="0">
              <a:buNone/>
            </a:pPr>
            <a:r>
              <a:rPr lang="es-MX" dirty="0">
                <a:solidFill>
                  <a:srgbClr val="000000"/>
                </a:solidFill>
                <a:effectLst/>
                <a:latin typeface="Arial" panose="020B0604020202020204" pitchFamily="34" charset="0"/>
              </a:rPr>
              <a:t>Proporción de predicciones "1" que son correctas: TP / (TP + FP) = 146 / (146 + 36) = 146 / 182 ≈ 0.8022. Cuando el modelo predice "1", el 80.22% de las veces es correcto.</a:t>
            </a:r>
          </a:p>
          <a:p>
            <a:pPr marL="0" indent="0" rtl="0">
              <a:buNone/>
            </a:pPr>
            <a:endParaRPr lang="es-MX" dirty="0">
              <a:solidFill>
                <a:srgbClr val="000000"/>
              </a:solidFill>
              <a:effectLst/>
              <a:latin typeface="Arial" panose="020B0604020202020204" pitchFamily="34" charset="0"/>
            </a:endParaRPr>
          </a:p>
          <a:p>
            <a:pPr rtl="0"/>
            <a:r>
              <a:rPr lang="es-MX" dirty="0">
                <a:solidFill>
                  <a:srgbClr val="000000"/>
                </a:solidFill>
                <a:effectLst/>
                <a:latin typeface="Arial" panose="020B0604020202020204" pitchFamily="34" charset="0"/>
              </a:rPr>
              <a:t>Negative Predictive Value (NPV): 0.7799</a:t>
            </a:r>
          </a:p>
          <a:p>
            <a:pPr marL="0" indent="0" rtl="0">
              <a:buNone/>
            </a:pPr>
            <a:r>
              <a:rPr lang="es-MX" dirty="0">
                <a:solidFill>
                  <a:srgbClr val="000000"/>
                </a:solidFill>
                <a:effectLst/>
                <a:latin typeface="Arial" panose="020B0604020202020204" pitchFamily="34" charset="0"/>
              </a:rPr>
              <a:t>Proporción de predicciones "0" que son correctas: TN / (TN + FN) = 248 / (248 + 70) = 248 / 318 ≈ 0.7799. Cuando predice "0", el 77.99% son correctas.</a:t>
            </a:r>
          </a:p>
          <a:p>
            <a:pPr marL="0" indent="0" rtl="0">
              <a:buNone/>
            </a:pPr>
            <a:endParaRPr lang="es-MX" dirty="0">
              <a:solidFill>
                <a:srgbClr val="000000"/>
              </a:solidFill>
              <a:effectLst/>
              <a:latin typeface="Arial" panose="020B0604020202020204" pitchFamily="34" charset="0"/>
            </a:endParaRPr>
          </a:p>
          <a:p>
            <a:pPr rtl="0"/>
            <a:r>
              <a:rPr lang="es-MX" dirty="0">
                <a:solidFill>
                  <a:srgbClr val="000000"/>
                </a:solidFill>
                <a:effectLst/>
                <a:latin typeface="Arial" panose="020B0604020202020204" pitchFamily="34" charset="0"/>
              </a:rPr>
              <a:t>Prevalence: 0.4320</a:t>
            </a:r>
          </a:p>
          <a:p>
            <a:pPr marL="0" indent="0" rtl="0">
              <a:buNone/>
            </a:pPr>
            <a:r>
              <a:rPr lang="es-MX" dirty="0">
                <a:solidFill>
                  <a:srgbClr val="000000"/>
                </a:solidFill>
                <a:effectLst/>
                <a:latin typeface="Arial" panose="020B0604020202020204" pitchFamily="34" charset="0"/>
              </a:rPr>
              <a:t>Proporción de casos reales de "1": 216 / 500 = 0.432. </a:t>
            </a:r>
            <a:endParaRPr lang="es-MX" dirty="0"/>
          </a:p>
        </p:txBody>
      </p:sp>
    </p:spTree>
    <p:extLst>
      <p:ext uri="{BB962C8B-B14F-4D97-AF65-F5344CB8AC3E}">
        <p14:creationId xmlns:p14="http://schemas.microsoft.com/office/powerpoint/2010/main" val="31568005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95758D9-7195-03FB-D205-FD5A56D9463D}"/>
              </a:ext>
            </a:extLst>
          </p:cNvPr>
          <p:cNvSpPr>
            <a:spLocks noGrp="1"/>
          </p:cNvSpPr>
          <p:nvPr>
            <p:ph type="title"/>
          </p:nvPr>
        </p:nvSpPr>
        <p:spPr/>
        <p:txBody>
          <a:bodyPr/>
          <a:lstStyle/>
          <a:p>
            <a:endParaRPr lang="es-MX"/>
          </a:p>
        </p:txBody>
      </p:sp>
      <p:sp>
        <p:nvSpPr>
          <p:cNvPr id="3" name="Marcador de contenido 2">
            <a:extLst>
              <a:ext uri="{FF2B5EF4-FFF2-40B4-BE49-F238E27FC236}">
                <a16:creationId xmlns:a16="http://schemas.microsoft.com/office/drawing/2014/main" id="{11DF0987-7111-627D-3298-36DB67E7A773}"/>
              </a:ext>
            </a:extLst>
          </p:cNvPr>
          <p:cNvSpPr>
            <a:spLocks noGrp="1"/>
          </p:cNvSpPr>
          <p:nvPr>
            <p:ph idx="1"/>
          </p:nvPr>
        </p:nvSpPr>
        <p:spPr/>
        <p:txBody>
          <a:bodyPr>
            <a:normAutofit fontScale="92500" lnSpcReduction="20000"/>
          </a:bodyPr>
          <a:lstStyle/>
          <a:p>
            <a:pPr rtl="0"/>
            <a:r>
              <a:rPr lang="es-MX" dirty="0">
                <a:solidFill>
                  <a:srgbClr val="000000"/>
                </a:solidFill>
                <a:effectLst/>
                <a:latin typeface="Arial" panose="020B0604020202020204" pitchFamily="34" charset="0"/>
              </a:rPr>
              <a:t>Detection Rate: 0.2920</a:t>
            </a:r>
          </a:p>
          <a:p>
            <a:pPr marL="0" indent="0" rtl="0">
              <a:buNone/>
            </a:pPr>
            <a:r>
              <a:rPr lang="es-MX" dirty="0">
                <a:solidFill>
                  <a:srgbClr val="000000"/>
                </a:solidFill>
                <a:effectLst/>
                <a:latin typeface="Arial" panose="020B0604020202020204" pitchFamily="34" charset="0"/>
              </a:rPr>
              <a:t>Proporción de casos de "1" detectados sobre el total: TP / Total = 146 / 500 = 0.292. Es la tasa de detección de la clase positiva.</a:t>
            </a:r>
          </a:p>
          <a:p>
            <a:pPr marL="0" indent="0" rtl="0">
              <a:buNone/>
            </a:pPr>
            <a:endParaRPr lang="es-MX" dirty="0">
              <a:solidFill>
                <a:srgbClr val="000000"/>
              </a:solidFill>
              <a:effectLst/>
              <a:latin typeface="Arial" panose="020B0604020202020204" pitchFamily="34" charset="0"/>
            </a:endParaRPr>
          </a:p>
          <a:p>
            <a:pPr rtl="0"/>
            <a:r>
              <a:rPr lang="es-MX" dirty="0">
                <a:solidFill>
                  <a:srgbClr val="000000"/>
                </a:solidFill>
                <a:effectLst/>
                <a:latin typeface="Arial" panose="020B0604020202020204" pitchFamily="34" charset="0"/>
              </a:rPr>
              <a:t>Detection Prevalence: 0.3640</a:t>
            </a:r>
          </a:p>
          <a:p>
            <a:pPr marL="0" indent="0" rtl="0">
              <a:buNone/>
            </a:pPr>
            <a:r>
              <a:rPr lang="es-MX" dirty="0">
                <a:solidFill>
                  <a:srgbClr val="000000"/>
                </a:solidFill>
                <a:effectLst/>
                <a:latin typeface="Arial" panose="020B0604020202020204" pitchFamily="34" charset="0"/>
              </a:rPr>
              <a:t>Proporción de predicciones "1" sobre el total: (TP + FP) / Total = (146 + 36) / 500 = 182 / 500 = 0.364. El modelo predice "1" el 36.4% de las veces.</a:t>
            </a:r>
          </a:p>
          <a:p>
            <a:pPr rtl="0">
              <a:buFont typeface="Arial" panose="020B0604020202020204" pitchFamily="34" charset="0"/>
              <a:buChar char="•"/>
            </a:pPr>
            <a:endParaRPr lang="es-MX" dirty="0">
              <a:solidFill>
                <a:srgbClr val="000000"/>
              </a:solidFill>
              <a:effectLst/>
              <a:latin typeface="Arial" panose="020B0604020202020204" pitchFamily="34" charset="0"/>
            </a:endParaRPr>
          </a:p>
          <a:p>
            <a:pPr rtl="0"/>
            <a:r>
              <a:rPr lang="es-MX" dirty="0">
                <a:solidFill>
                  <a:srgbClr val="000000"/>
                </a:solidFill>
                <a:effectLst/>
                <a:latin typeface="Arial" panose="020B0604020202020204" pitchFamily="34" charset="0"/>
              </a:rPr>
              <a:t>Balanced Accuracy: 0.7746</a:t>
            </a:r>
          </a:p>
          <a:p>
            <a:pPr marL="0" indent="0" rtl="0">
              <a:buNone/>
            </a:pPr>
            <a:r>
              <a:rPr lang="es-MX" dirty="0">
                <a:solidFill>
                  <a:srgbClr val="000000"/>
                </a:solidFill>
                <a:effectLst/>
                <a:latin typeface="Arial" panose="020B0604020202020204" pitchFamily="34" charset="0"/>
              </a:rPr>
              <a:t>Promedio de sensibilidad y especificidad: (0.6759 + 0.8732) / 2 ≈ 0.7746. Indica un equilibrio razonable entre detectar "1" y "0".</a:t>
            </a:r>
          </a:p>
          <a:p>
            <a:pPr rtl="0">
              <a:buFont typeface="Arial" panose="020B0604020202020204" pitchFamily="34" charset="0"/>
              <a:buChar char="•"/>
            </a:pPr>
            <a:endParaRPr lang="es-MX" dirty="0">
              <a:solidFill>
                <a:srgbClr val="000000"/>
              </a:solidFill>
              <a:effectLst/>
              <a:latin typeface="Arial" panose="020B0604020202020204" pitchFamily="34" charset="0"/>
            </a:endParaRPr>
          </a:p>
          <a:p>
            <a:endParaRPr lang="es-MX" dirty="0"/>
          </a:p>
        </p:txBody>
      </p:sp>
    </p:spTree>
    <p:extLst>
      <p:ext uri="{BB962C8B-B14F-4D97-AF65-F5344CB8AC3E}">
        <p14:creationId xmlns:p14="http://schemas.microsoft.com/office/powerpoint/2010/main" val="20983322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667527-C8EE-D88A-AF6B-FAF8DEBF8D77}"/>
              </a:ext>
            </a:extLst>
          </p:cNvPr>
          <p:cNvSpPr>
            <a:spLocks noGrp="1"/>
          </p:cNvSpPr>
          <p:nvPr>
            <p:ph type="title"/>
          </p:nvPr>
        </p:nvSpPr>
        <p:spPr/>
        <p:txBody>
          <a:bodyPr/>
          <a:lstStyle/>
          <a:p>
            <a:r>
              <a:rPr lang="es-MX" dirty="0"/>
              <a:t>AUC</a:t>
            </a:r>
          </a:p>
        </p:txBody>
      </p:sp>
      <p:sp>
        <p:nvSpPr>
          <p:cNvPr id="3" name="Marcador de contenido 2">
            <a:extLst>
              <a:ext uri="{FF2B5EF4-FFF2-40B4-BE49-F238E27FC236}">
                <a16:creationId xmlns:a16="http://schemas.microsoft.com/office/drawing/2014/main" id="{E19AFC28-A908-328E-1485-7860F272261D}"/>
              </a:ext>
            </a:extLst>
          </p:cNvPr>
          <p:cNvSpPr>
            <a:spLocks noGrp="1"/>
          </p:cNvSpPr>
          <p:nvPr>
            <p:ph idx="1"/>
          </p:nvPr>
        </p:nvSpPr>
        <p:spPr/>
        <p:txBody>
          <a:bodyPr>
            <a:normAutofit fontScale="85000" lnSpcReduction="20000"/>
          </a:bodyPr>
          <a:lstStyle/>
          <a:p>
            <a:pPr rtl="0"/>
            <a:r>
              <a:rPr lang="es-MX" dirty="0">
                <a:solidFill>
                  <a:srgbClr val="000000"/>
                </a:solidFill>
                <a:effectLst/>
                <a:latin typeface="Arial" panose="020B0604020202020204" pitchFamily="34" charset="0"/>
              </a:rPr>
              <a:t>¿Qué es el AUC?</a:t>
            </a:r>
          </a:p>
          <a:p>
            <a:pPr rtl="0"/>
            <a:r>
              <a:rPr lang="es-MX" dirty="0">
                <a:solidFill>
                  <a:srgbClr val="000000"/>
                </a:solidFill>
                <a:effectLst/>
                <a:latin typeface="Arial" panose="020B0604020202020204" pitchFamily="34" charset="0"/>
              </a:rPr>
              <a:t>El AUC mide la capacidad de un modelo para distinguir entre las dos clases (en tu caso, "0" y "1"). Es una métrica global que resume el rendimiento del modelo a lo largo de todos los posibles umbrales de clasificación, no solo el umbral predeterminado (generalmente 0.5).</a:t>
            </a:r>
          </a:p>
          <a:p>
            <a:pPr marL="0" indent="0" rtl="0">
              <a:buNone/>
            </a:pPr>
            <a:endParaRPr lang="es-MX" dirty="0">
              <a:solidFill>
                <a:srgbClr val="000000"/>
              </a:solidFill>
              <a:effectLst/>
              <a:latin typeface="Arial" panose="020B0604020202020204" pitchFamily="34" charset="0"/>
            </a:endParaRPr>
          </a:p>
          <a:p>
            <a:pPr rtl="0">
              <a:buFont typeface="Arial" panose="020B0604020202020204" pitchFamily="34" charset="0"/>
              <a:buChar char="•"/>
            </a:pPr>
            <a:r>
              <a:rPr lang="es-MX" dirty="0">
                <a:solidFill>
                  <a:srgbClr val="000000"/>
                </a:solidFill>
                <a:effectLst/>
                <a:latin typeface="Arial" panose="020B0604020202020204" pitchFamily="34" charset="0"/>
              </a:rPr>
              <a:t>Curva ROC: Grafica la tasa de verdaderos positivos (sensibilidad) frente a la tasa de falsos positivos (1 - especificidad) para diferentes umbrales.</a:t>
            </a:r>
          </a:p>
          <a:p>
            <a:pPr rtl="0">
              <a:buFont typeface="Arial" panose="020B0604020202020204" pitchFamily="34" charset="0"/>
              <a:buChar char="•"/>
            </a:pPr>
            <a:endParaRPr lang="es-MX" dirty="0">
              <a:solidFill>
                <a:srgbClr val="000000"/>
              </a:solidFill>
              <a:effectLst/>
              <a:latin typeface="Arial" panose="020B0604020202020204" pitchFamily="34" charset="0"/>
            </a:endParaRPr>
          </a:p>
          <a:p>
            <a:pPr rtl="0">
              <a:buFont typeface="Arial" panose="020B0604020202020204" pitchFamily="34" charset="0"/>
              <a:buChar char="•"/>
            </a:pPr>
            <a:r>
              <a:rPr lang="es-MX" dirty="0">
                <a:solidFill>
                  <a:srgbClr val="000000"/>
                </a:solidFill>
                <a:effectLst/>
                <a:latin typeface="Arial" panose="020B0604020202020204" pitchFamily="34" charset="0"/>
              </a:rPr>
              <a:t>AUC: Es el área bajo esta curva. Su valor está entre 0 y 1:</a:t>
            </a:r>
          </a:p>
          <a:p>
            <a:pPr marL="742950" lvl="1" indent="-285750" rtl="0">
              <a:buFont typeface="Arial" panose="020B0604020202020204" pitchFamily="34" charset="0"/>
              <a:buChar char="•"/>
            </a:pPr>
            <a:r>
              <a:rPr lang="es-MX" dirty="0">
                <a:solidFill>
                  <a:srgbClr val="000000"/>
                </a:solidFill>
                <a:effectLst/>
                <a:latin typeface="Arial" panose="020B0604020202020204" pitchFamily="34" charset="0"/>
              </a:rPr>
              <a:t>1.0: Discriminación perfecta (el modelo siempre distingue correctamente entre clases).</a:t>
            </a:r>
          </a:p>
          <a:p>
            <a:pPr marL="742950" lvl="1" indent="-285750" rtl="0">
              <a:buFont typeface="Arial" panose="020B0604020202020204" pitchFamily="34" charset="0"/>
              <a:buChar char="•"/>
            </a:pPr>
            <a:r>
              <a:rPr lang="es-MX" dirty="0">
                <a:solidFill>
                  <a:srgbClr val="000000"/>
                </a:solidFill>
                <a:effectLst/>
                <a:latin typeface="Arial" panose="020B0604020202020204" pitchFamily="34" charset="0"/>
              </a:rPr>
              <a:t>0.5: Discriminación aleatoria (equivalente a tirar una moneda).</a:t>
            </a:r>
          </a:p>
          <a:p>
            <a:pPr marL="742950" lvl="1" indent="-285750" rtl="0">
              <a:buFont typeface="Arial" panose="020B0604020202020204" pitchFamily="34" charset="0"/>
              <a:buChar char="•"/>
            </a:pPr>
            <a:r>
              <a:rPr lang="es-MX" dirty="0">
                <a:solidFill>
                  <a:srgbClr val="000000"/>
                </a:solidFill>
                <a:effectLst/>
                <a:latin typeface="Arial" panose="020B0604020202020204" pitchFamily="34" charset="0"/>
              </a:rPr>
              <a:t>&lt; 0.5: Peor que aleatorio (el modelo confunde sistemáticamente las clases).</a:t>
            </a:r>
          </a:p>
          <a:p>
            <a:endParaRPr lang="es-MX" dirty="0"/>
          </a:p>
        </p:txBody>
      </p:sp>
    </p:spTree>
    <p:extLst>
      <p:ext uri="{BB962C8B-B14F-4D97-AF65-F5344CB8AC3E}">
        <p14:creationId xmlns:p14="http://schemas.microsoft.com/office/powerpoint/2010/main" val="39307554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1B2479-8917-5029-8DFB-FFE0443AAE87}"/>
              </a:ext>
            </a:extLst>
          </p:cNvPr>
          <p:cNvSpPr>
            <a:spLocks noGrp="1"/>
          </p:cNvSpPr>
          <p:nvPr>
            <p:ph type="title"/>
          </p:nvPr>
        </p:nvSpPr>
        <p:spPr/>
        <p:txBody>
          <a:bodyPr/>
          <a:lstStyle/>
          <a:p>
            <a:endParaRPr lang="es-MX"/>
          </a:p>
        </p:txBody>
      </p:sp>
      <p:sp>
        <p:nvSpPr>
          <p:cNvPr id="3" name="Marcador de contenido 2">
            <a:extLst>
              <a:ext uri="{FF2B5EF4-FFF2-40B4-BE49-F238E27FC236}">
                <a16:creationId xmlns:a16="http://schemas.microsoft.com/office/drawing/2014/main" id="{1CEBE3F0-1BA3-6067-7B83-7BDAA8DB086E}"/>
              </a:ext>
            </a:extLst>
          </p:cNvPr>
          <p:cNvSpPr>
            <a:spLocks noGrp="1"/>
          </p:cNvSpPr>
          <p:nvPr>
            <p:ph idx="1"/>
          </p:nvPr>
        </p:nvSpPr>
        <p:spPr/>
        <p:txBody>
          <a:bodyPr>
            <a:normAutofit fontScale="62500" lnSpcReduction="20000"/>
          </a:bodyPr>
          <a:lstStyle/>
          <a:p>
            <a:pPr rtl="0"/>
            <a:r>
              <a:rPr lang="es-MX" dirty="0">
                <a:solidFill>
                  <a:srgbClr val="000000"/>
                </a:solidFill>
                <a:effectLst/>
                <a:latin typeface="Arial" panose="020B0604020202020204" pitchFamily="34" charset="0"/>
              </a:rPr>
              <a:t>Comparación con puntos de referencia:</a:t>
            </a:r>
          </a:p>
          <a:p>
            <a:pPr rtl="0">
              <a:buFont typeface="Arial" panose="020B0604020202020204" pitchFamily="34" charset="0"/>
              <a:buChar char="•"/>
            </a:pPr>
            <a:r>
              <a:rPr lang="es-MX" dirty="0">
                <a:solidFill>
                  <a:srgbClr val="000000"/>
                </a:solidFill>
                <a:effectLst/>
                <a:latin typeface="Arial" panose="020B0604020202020204" pitchFamily="34" charset="0"/>
              </a:rPr>
              <a:t>&gt; 0.9: Excelente.</a:t>
            </a:r>
          </a:p>
          <a:p>
            <a:pPr rtl="0">
              <a:buFont typeface="Arial" panose="020B0604020202020204" pitchFamily="34" charset="0"/>
              <a:buChar char="•"/>
            </a:pPr>
            <a:r>
              <a:rPr lang="es-MX" dirty="0">
                <a:solidFill>
                  <a:srgbClr val="000000"/>
                </a:solidFill>
                <a:effectLst/>
                <a:latin typeface="Arial" panose="020B0604020202020204" pitchFamily="34" charset="0"/>
              </a:rPr>
              <a:t>0.8 - 0.9: Bueno/muy bueno.</a:t>
            </a:r>
          </a:p>
          <a:p>
            <a:pPr rtl="0">
              <a:buFont typeface="Arial" panose="020B0604020202020204" pitchFamily="34" charset="0"/>
              <a:buChar char="•"/>
            </a:pPr>
            <a:r>
              <a:rPr lang="es-MX" dirty="0">
                <a:solidFill>
                  <a:srgbClr val="000000"/>
                </a:solidFill>
                <a:effectLst/>
                <a:latin typeface="Arial" panose="020B0604020202020204" pitchFamily="34" charset="0"/>
              </a:rPr>
              <a:t>0.7 - 0.8: Aceptable.</a:t>
            </a:r>
          </a:p>
          <a:p>
            <a:pPr rtl="0">
              <a:buFont typeface="Arial" panose="020B0604020202020204" pitchFamily="34" charset="0"/>
              <a:buChar char="•"/>
            </a:pPr>
            <a:r>
              <a:rPr lang="es-MX" dirty="0">
                <a:solidFill>
                  <a:srgbClr val="000000"/>
                </a:solidFill>
                <a:effectLst/>
                <a:latin typeface="Arial" panose="020B0604020202020204" pitchFamily="34" charset="0"/>
              </a:rPr>
              <a:t>0.6 - 0.7: Regular.</a:t>
            </a:r>
          </a:p>
          <a:p>
            <a:pPr rtl="0">
              <a:buFont typeface="Arial" panose="020B0604020202020204" pitchFamily="34" charset="0"/>
              <a:buChar char="•"/>
            </a:pPr>
            <a:r>
              <a:rPr lang="es-MX" dirty="0">
                <a:solidFill>
                  <a:srgbClr val="000000"/>
                </a:solidFill>
                <a:effectLst/>
                <a:latin typeface="Arial" panose="020B0604020202020204" pitchFamily="34" charset="0"/>
              </a:rPr>
              <a:t>&lt; 0.6: Pobre.</a:t>
            </a:r>
          </a:p>
          <a:p>
            <a:pPr rtl="0">
              <a:buFont typeface="Arial" panose="020B0604020202020204" pitchFamily="34" charset="0"/>
              <a:buChar char="•"/>
            </a:pPr>
            <a:endParaRPr lang="es-MX" dirty="0">
              <a:solidFill>
                <a:srgbClr val="000000"/>
              </a:solidFill>
              <a:effectLst/>
              <a:latin typeface="Arial" panose="020B0604020202020204" pitchFamily="34" charset="0"/>
            </a:endParaRPr>
          </a:p>
          <a:p>
            <a:pPr rtl="0">
              <a:buFont typeface="Arial" panose="020B0604020202020204" pitchFamily="34" charset="0"/>
              <a:buChar char="•"/>
            </a:pPr>
            <a:r>
              <a:rPr lang="es-MX" dirty="0">
                <a:solidFill>
                  <a:srgbClr val="000000"/>
                </a:solidFill>
                <a:effectLst/>
                <a:latin typeface="Arial" panose="020B0604020202020204" pitchFamily="34" charset="0"/>
              </a:rPr>
              <a:t>Con 0.847, tu modelo está en el rango "bueno/muy bueno", lo que sugiere que discrimina bien, aunque no es perfecto.</a:t>
            </a:r>
          </a:p>
          <a:p>
            <a:pPr rtl="0">
              <a:buFont typeface="Arial" panose="020B0604020202020204" pitchFamily="34" charset="0"/>
              <a:buChar char="•"/>
            </a:pPr>
            <a:endParaRPr lang="es-MX" dirty="0">
              <a:solidFill>
                <a:srgbClr val="000000"/>
              </a:solidFill>
              <a:effectLst/>
              <a:latin typeface="Arial" panose="020B0604020202020204" pitchFamily="34" charset="0"/>
            </a:endParaRPr>
          </a:p>
          <a:p>
            <a:pPr rtl="0"/>
            <a:r>
              <a:rPr lang="es-MX" dirty="0">
                <a:solidFill>
                  <a:srgbClr val="000000"/>
                </a:solidFill>
                <a:effectLst/>
                <a:latin typeface="Arial" panose="020B0604020202020204" pitchFamily="34" charset="0"/>
              </a:rPr>
              <a:t>Relación con tus resultados:</a:t>
            </a:r>
          </a:p>
          <a:p>
            <a:pPr rtl="0">
              <a:buFont typeface="Arial" panose="020B0604020202020204" pitchFamily="34" charset="0"/>
              <a:buChar char="•"/>
            </a:pPr>
            <a:r>
              <a:rPr lang="es-MX" dirty="0">
                <a:solidFill>
                  <a:srgbClr val="000000"/>
                </a:solidFill>
                <a:effectLst/>
                <a:latin typeface="Arial" panose="020B0604020202020204" pitchFamily="34" charset="0"/>
              </a:rPr>
              <a:t>Tu modelo tiene una Accuracy de 0.788, una Balanced Accuracy de 0.7746, una Sensitivity de 0.6759 (para "1") y una Specificity de 0.8732. El AUC (0.847) es más alto que estas métricas individuales porque considera el rendimiento en todos los umbrales, no solo en el umbral fijo usado para la matriz de confusión (probablemente 0.5).</a:t>
            </a:r>
          </a:p>
          <a:p>
            <a:endParaRPr lang="es-MX" dirty="0"/>
          </a:p>
        </p:txBody>
      </p:sp>
    </p:spTree>
    <p:extLst>
      <p:ext uri="{BB962C8B-B14F-4D97-AF65-F5344CB8AC3E}">
        <p14:creationId xmlns:p14="http://schemas.microsoft.com/office/powerpoint/2010/main" val="40897248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A368043-2C62-B8A8-0AE6-9BA8CF77F33D}"/>
              </a:ext>
            </a:extLst>
          </p:cNvPr>
          <p:cNvSpPr>
            <a:spLocks noGrp="1"/>
          </p:cNvSpPr>
          <p:nvPr>
            <p:ph type="title"/>
          </p:nvPr>
        </p:nvSpPr>
        <p:spPr/>
        <p:txBody>
          <a:bodyPr/>
          <a:lstStyle/>
          <a:p>
            <a:endParaRPr lang="es-MX"/>
          </a:p>
        </p:txBody>
      </p:sp>
      <p:sp>
        <p:nvSpPr>
          <p:cNvPr id="3" name="Marcador de contenido 2">
            <a:extLst>
              <a:ext uri="{FF2B5EF4-FFF2-40B4-BE49-F238E27FC236}">
                <a16:creationId xmlns:a16="http://schemas.microsoft.com/office/drawing/2014/main" id="{0B1788F9-23B1-A3DF-A396-88A5B9B4F3D3}"/>
              </a:ext>
            </a:extLst>
          </p:cNvPr>
          <p:cNvSpPr>
            <a:spLocks noGrp="1"/>
          </p:cNvSpPr>
          <p:nvPr>
            <p:ph idx="1"/>
          </p:nvPr>
        </p:nvSpPr>
        <p:spPr/>
        <p:txBody>
          <a:bodyPr>
            <a:normAutofit fontScale="77500" lnSpcReduction="20000"/>
          </a:bodyPr>
          <a:lstStyle/>
          <a:p>
            <a:pPr rtl="0"/>
            <a:r>
              <a:rPr lang="es-MX" dirty="0">
                <a:solidFill>
                  <a:srgbClr val="000000"/>
                </a:solidFill>
                <a:effectLst/>
                <a:latin typeface="Arial" panose="020B0604020202020204" pitchFamily="34" charset="0"/>
              </a:rPr>
              <a:t>¿Por qué el AUC es mayor que la Accuracy?</a:t>
            </a:r>
          </a:p>
          <a:p>
            <a:pPr marL="0" indent="0" rtl="0">
              <a:buNone/>
            </a:pPr>
            <a:r>
              <a:rPr lang="es-MX" dirty="0">
                <a:solidFill>
                  <a:srgbClr val="000000"/>
                </a:solidFill>
                <a:effectLst/>
                <a:latin typeface="Arial" panose="020B0604020202020204" pitchFamily="34" charset="0"/>
              </a:rPr>
              <a:t>La Accuracy (0.788) refleja el porcentaje de predicciones correctas con un umbral específico (por ejemplo, si la probabilidad predicha &gt; 0.5, se clasifica como "1"). Esto depende de la distribución de los datos y del umbral elegido.</a:t>
            </a:r>
          </a:p>
          <a:p>
            <a:pPr rtl="0">
              <a:buFont typeface="Arial" panose="020B0604020202020204" pitchFamily="34" charset="0"/>
              <a:buChar char="•"/>
            </a:pPr>
            <a:endParaRPr lang="es-MX" dirty="0">
              <a:solidFill>
                <a:srgbClr val="000000"/>
              </a:solidFill>
              <a:effectLst/>
              <a:latin typeface="Arial" panose="020B0604020202020204" pitchFamily="34" charset="0"/>
            </a:endParaRPr>
          </a:p>
          <a:p>
            <a:pPr marL="0" indent="0" rtl="0">
              <a:buNone/>
            </a:pPr>
            <a:r>
              <a:rPr lang="es-MX" dirty="0">
                <a:solidFill>
                  <a:srgbClr val="000000"/>
                </a:solidFill>
                <a:effectLst/>
                <a:latin typeface="Arial" panose="020B0604020202020204" pitchFamily="34" charset="0"/>
              </a:rPr>
              <a:t>El AUC (0.847) evalúa el rendimiento global del modelo, independientemente del umbral. Si ajustaras el umbral, podrías mejorar la sensibilidad o especificidad, y el AUC captura esta flexibilidad.</a:t>
            </a:r>
          </a:p>
          <a:p>
            <a:pPr rtl="0">
              <a:buFont typeface="Arial" panose="020B0604020202020204" pitchFamily="34" charset="0"/>
              <a:buChar char="•"/>
            </a:pPr>
            <a:endParaRPr lang="es-MX" dirty="0">
              <a:solidFill>
                <a:srgbClr val="000000"/>
              </a:solidFill>
              <a:effectLst/>
              <a:latin typeface="Arial" panose="020B0604020202020204" pitchFamily="34" charset="0"/>
            </a:endParaRPr>
          </a:p>
          <a:p>
            <a:pPr rtl="0"/>
            <a:r>
              <a:rPr lang="es-MX" dirty="0">
                <a:solidFill>
                  <a:srgbClr val="000000"/>
                </a:solidFill>
                <a:effectLst/>
                <a:latin typeface="Arial" panose="020B0604020202020204" pitchFamily="34" charset="0"/>
              </a:rPr>
              <a:t>Por ejemplo:</a:t>
            </a:r>
          </a:p>
          <a:p>
            <a:pPr marL="0" indent="0" rtl="0">
              <a:buNone/>
            </a:pPr>
            <a:r>
              <a:rPr lang="es-MX" dirty="0">
                <a:solidFill>
                  <a:srgbClr val="000000"/>
                </a:solidFill>
                <a:effectLst/>
                <a:latin typeface="Arial" panose="020B0604020202020204" pitchFamily="34" charset="0"/>
              </a:rPr>
              <a:t>Con el umbral actual, la sensibilidad para "1" es 0.6759 (67.59%), lo que indica que el modelo pierde algunos casos de "1" (70 falsos negativos). Si bajas el umbral, podrías aumentar la sensibilidad, y el AUC refleja que el modelo tiene potencial para hacerlo bien en esos ajustes</a:t>
            </a:r>
          </a:p>
          <a:p>
            <a:endParaRPr lang="es-MX" dirty="0"/>
          </a:p>
        </p:txBody>
      </p:sp>
    </p:spTree>
    <p:extLst>
      <p:ext uri="{BB962C8B-B14F-4D97-AF65-F5344CB8AC3E}">
        <p14:creationId xmlns:p14="http://schemas.microsoft.com/office/powerpoint/2010/main" val="7145658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3CECD3-6DD3-959E-97F5-736BF7985B3F}"/>
              </a:ext>
            </a:extLst>
          </p:cNvPr>
          <p:cNvSpPr>
            <a:spLocks noGrp="1"/>
          </p:cNvSpPr>
          <p:nvPr>
            <p:ph type="title"/>
          </p:nvPr>
        </p:nvSpPr>
        <p:spPr/>
        <p:txBody>
          <a:bodyPr/>
          <a:lstStyle/>
          <a:p>
            <a:endParaRPr lang="es-MX"/>
          </a:p>
        </p:txBody>
      </p:sp>
      <p:sp>
        <p:nvSpPr>
          <p:cNvPr id="3" name="Marcador de contenido 2">
            <a:extLst>
              <a:ext uri="{FF2B5EF4-FFF2-40B4-BE49-F238E27FC236}">
                <a16:creationId xmlns:a16="http://schemas.microsoft.com/office/drawing/2014/main" id="{271AEC10-3ECE-0B7A-8D9F-013EEB70F23B}"/>
              </a:ext>
            </a:extLst>
          </p:cNvPr>
          <p:cNvSpPr>
            <a:spLocks noGrp="1"/>
          </p:cNvSpPr>
          <p:nvPr>
            <p:ph idx="1"/>
          </p:nvPr>
        </p:nvSpPr>
        <p:spPr/>
        <p:txBody>
          <a:bodyPr/>
          <a:lstStyle/>
          <a:p>
            <a:pPr rtl="0"/>
            <a:r>
              <a:rPr lang="es-MX" dirty="0">
                <a:solidFill>
                  <a:srgbClr val="000000"/>
                </a:solidFill>
                <a:effectLst/>
                <a:latin typeface="Arial" panose="020B0604020202020204" pitchFamily="34" charset="0"/>
              </a:rPr>
              <a:t>Interpretación práctica</a:t>
            </a:r>
          </a:p>
          <a:p>
            <a:pPr rtl="0">
              <a:buFont typeface="Arial" panose="020B0604020202020204" pitchFamily="34" charset="0"/>
              <a:buChar char="•"/>
            </a:pPr>
            <a:r>
              <a:rPr lang="es-MX" dirty="0">
                <a:solidFill>
                  <a:srgbClr val="000000"/>
                </a:solidFill>
                <a:effectLst/>
                <a:latin typeface="Arial" panose="020B0604020202020204" pitchFamily="34" charset="0"/>
              </a:rPr>
              <a:t>Fortaleza: Un AUC de 0.847 indica que tu modelo logit tiene una buena capacidad discriminativa. En un contexto real (por ejemplo, diagnosticar una enfermedad, predecir compras, etc.), esto significa que es bastante confiable para priorizar casos positivos sobre </a:t>
            </a:r>
            <a:r>
              <a:rPr lang="es-MX">
                <a:solidFill>
                  <a:srgbClr val="000000"/>
                </a:solidFill>
                <a:effectLst/>
                <a:latin typeface="Arial" panose="020B0604020202020204" pitchFamily="34" charset="0"/>
              </a:rPr>
              <a:t>negativos.</a:t>
            </a:r>
          </a:p>
          <a:p>
            <a:pPr rtl="0">
              <a:buFont typeface="Arial" panose="020B0604020202020204" pitchFamily="34" charset="0"/>
              <a:buChar char="•"/>
            </a:pPr>
            <a:endParaRPr lang="es-MX" dirty="0">
              <a:solidFill>
                <a:srgbClr val="000000"/>
              </a:solidFill>
              <a:effectLst/>
              <a:latin typeface="Arial" panose="020B0604020202020204" pitchFamily="34" charset="0"/>
            </a:endParaRPr>
          </a:p>
          <a:p>
            <a:pPr rtl="0">
              <a:buFont typeface="Arial" panose="020B0604020202020204" pitchFamily="34" charset="0"/>
              <a:buChar char="•"/>
            </a:pPr>
            <a:r>
              <a:rPr lang="es-MX" dirty="0">
                <a:solidFill>
                  <a:srgbClr val="000000"/>
                </a:solidFill>
                <a:effectLst/>
                <a:latin typeface="Arial" panose="020B0604020202020204" pitchFamily="34" charset="0"/>
              </a:rPr>
              <a:t>Limitación: No es perfecto (AUC &lt; 1), lo que concuerda con los falsos positivos y negativos en tu matriz. Hay un 15.3% de "error" en la discriminación (1 - 0.847).</a:t>
            </a:r>
          </a:p>
          <a:p>
            <a:endParaRPr lang="es-MX" dirty="0"/>
          </a:p>
        </p:txBody>
      </p:sp>
    </p:spTree>
    <p:extLst>
      <p:ext uri="{BB962C8B-B14F-4D97-AF65-F5344CB8AC3E}">
        <p14:creationId xmlns:p14="http://schemas.microsoft.com/office/powerpoint/2010/main" val="1736482161"/>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1166</TotalTime>
  <Words>1200</Words>
  <Application>Microsoft Macintosh PowerPoint</Application>
  <PresentationFormat>Panorámica</PresentationFormat>
  <Paragraphs>86</Paragraphs>
  <Slides>10</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10</vt:i4>
      </vt:variant>
    </vt:vector>
  </HeadingPairs>
  <TitlesOfParts>
    <vt:vector size="14" baseType="lpstr">
      <vt:lpstr>Aptos</vt:lpstr>
      <vt:lpstr>Aptos Display</vt:lpstr>
      <vt:lpstr>Arial</vt:lpstr>
      <vt:lpstr>Tema de Office</vt:lpstr>
      <vt:lpstr>Análisis de datos del Titanic</vt:lpstr>
      <vt:lpstr>Confusion matrix</vt:lpstr>
      <vt:lpstr>Interpretacion </vt:lpstr>
      <vt:lpstr>Presentación de PowerPoint</vt:lpstr>
      <vt:lpstr>Presentación de PowerPoint</vt:lpstr>
      <vt:lpstr>Presentación de PowerPoint</vt:lpstr>
      <vt:lpstr>AUC</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Alejandro Salazar A.</dc:creator>
  <cp:lastModifiedBy>Alejandro Salazar A.</cp:lastModifiedBy>
  <cp:revision>1</cp:revision>
  <dcterms:created xsi:type="dcterms:W3CDTF">2025-04-07T20:49:47Z</dcterms:created>
  <dcterms:modified xsi:type="dcterms:W3CDTF">2025-04-08T16:16:32Z</dcterms:modified>
</cp:coreProperties>
</file>